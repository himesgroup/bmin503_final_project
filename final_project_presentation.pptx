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5" r:id="rId7"/>
    <p:sldId id="261" r:id="rId8"/>
    <p:sldId id="262" r:id="rId9"/>
    <p:sldId id="266" r:id="rId10"/>
    <p:sldId id="263" r:id="rId11"/>
    <p:sldId id="264"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469" autoAdjust="0"/>
  </p:normalViewPr>
  <p:slideViewPr>
    <p:cSldViewPr snapToGrid="0" snapToObjects="1">
      <p:cViewPr varScale="1">
        <p:scale>
          <a:sx n="78" d="100"/>
          <a:sy n="78" d="100"/>
        </p:scale>
        <p:origin x="159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D32A94-7043-4574-AEE8-D62CA977B36A}"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26673829-0A02-4B5E-9582-B1E773D567D3}">
      <dgm:prSet/>
      <dgm:spPr/>
      <dgm:t>
        <a:bodyPr/>
        <a:lstStyle/>
        <a:p>
          <a:r>
            <a:rPr lang="en-US" dirty="0"/>
            <a:t>Miscarriage affects 10–20% of recognized pregnancies</a:t>
          </a:r>
        </a:p>
      </dgm:t>
    </dgm:pt>
    <dgm:pt modelId="{C5C9734E-BB87-4C10-AC68-B1E6ABF1A09B}" type="parTrans" cxnId="{255484AA-1EF6-408C-A1A7-F16D8085AD31}">
      <dgm:prSet/>
      <dgm:spPr/>
      <dgm:t>
        <a:bodyPr/>
        <a:lstStyle/>
        <a:p>
          <a:endParaRPr lang="en-US"/>
        </a:p>
      </dgm:t>
    </dgm:pt>
    <dgm:pt modelId="{5066A954-A60D-4B9B-AC5D-B0BFD9F53F26}" type="sibTrans" cxnId="{255484AA-1EF6-408C-A1A7-F16D8085AD31}">
      <dgm:prSet/>
      <dgm:spPr/>
      <dgm:t>
        <a:bodyPr/>
        <a:lstStyle/>
        <a:p>
          <a:endParaRPr lang="en-US"/>
        </a:p>
      </dgm:t>
    </dgm:pt>
    <dgm:pt modelId="{B87D3D89-5698-4FA7-8475-AC756CE0AD8D}">
      <dgm:prSet/>
      <dgm:spPr/>
      <dgm:t>
        <a:bodyPr/>
        <a:lstStyle/>
        <a:p>
          <a:r>
            <a:rPr lang="en-US"/>
            <a:t>Iron’s role in reproductive health</a:t>
          </a:r>
        </a:p>
      </dgm:t>
    </dgm:pt>
    <dgm:pt modelId="{B1972F99-9266-463A-997F-07BFBA426FB1}" type="parTrans" cxnId="{50339AB7-9232-4403-B133-23877D5D9B59}">
      <dgm:prSet/>
      <dgm:spPr/>
      <dgm:t>
        <a:bodyPr/>
        <a:lstStyle/>
        <a:p>
          <a:endParaRPr lang="en-US"/>
        </a:p>
      </dgm:t>
    </dgm:pt>
    <dgm:pt modelId="{EFF758DA-3BDF-4B81-8C45-CEFA1B6EF4E3}" type="sibTrans" cxnId="{50339AB7-9232-4403-B133-23877D5D9B59}">
      <dgm:prSet/>
      <dgm:spPr/>
      <dgm:t>
        <a:bodyPr/>
        <a:lstStyle/>
        <a:p>
          <a:endParaRPr lang="en-US"/>
        </a:p>
      </dgm:t>
    </dgm:pt>
    <dgm:pt modelId="{7099023F-EC82-40EE-9E88-3B8A36038EEA}">
      <dgm:prSet/>
      <dgm:spPr/>
      <dgm:t>
        <a:bodyPr/>
        <a:lstStyle/>
        <a:p>
          <a:r>
            <a:rPr lang="en-US"/>
            <a:t>Serum ferritin as biomarker of iron stores</a:t>
          </a:r>
        </a:p>
      </dgm:t>
    </dgm:pt>
    <dgm:pt modelId="{E9BA2EE2-9D14-46F6-8649-25AA78996CB1}" type="parTrans" cxnId="{BB2EF0CD-4916-472E-8C85-BA888ABC88D3}">
      <dgm:prSet/>
      <dgm:spPr/>
      <dgm:t>
        <a:bodyPr/>
        <a:lstStyle/>
        <a:p>
          <a:endParaRPr lang="en-US"/>
        </a:p>
      </dgm:t>
    </dgm:pt>
    <dgm:pt modelId="{B7098DB4-CA5C-48EF-B36F-65503971FD14}" type="sibTrans" cxnId="{BB2EF0CD-4916-472E-8C85-BA888ABC88D3}">
      <dgm:prSet/>
      <dgm:spPr/>
      <dgm:t>
        <a:bodyPr/>
        <a:lstStyle/>
        <a:p>
          <a:endParaRPr lang="en-US"/>
        </a:p>
      </dgm:t>
    </dgm:pt>
    <dgm:pt modelId="{D09B5037-DD05-44B2-BD89-026FCFC09BC5}">
      <dgm:prSet/>
      <dgm:spPr/>
      <dgm:t>
        <a:bodyPr/>
        <a:lstStyle/>
        <a:p>
          <a:r>
            <a:rPr lang="en-US"/>
            <a:t>Research question: Does low ferritin increase miscarriage risk?</a:t>
          </a:r>
        </a:p>
      </dgm:t>
    </dgm:pt>
    <dgm:pt modelId="{BDF847B1-5766-4B0B-BC86-514C970EB770}" type="parTrans" cxnId="{240D35B8-DA24-43C4-BB71-37CC2102E0AE}">
      <dgm:prSet/>
      <dgm:spPr/>
      <dgm:t>
        <a:bodyPr/>
        <a:lstStyle/>
        <a:p>
          <a:endParaRPr lang="en-US"/>
        </a:p>
      </dgm:t>
    </dgm:pt>
    <dgm:pt modelId="{785E3AAA-2EC2-40A8-8125-39E6EB8B0CEE}" type="sibTrans" cxnId="{240D35B8-DA24-43C4-BB71-37CC2102E0AE}">
      <dgm:prSet/>
      <dgm:spPr/>
      <dgm:t>
        <a:bodyPr/>
        <a:lstStyle/>
        <a:p>
          <a:endParaRPr lang="en-US"/>
        </a:p>
      </dgm:t>
    </dgm:pt>
    <dgm:pt modelId="{7A3BC315-5A9B-4B4E-B307-FF25ED5D18D5}" type="pres">
      <dgm:prSet presAssocID="{D9D32A94-7043-4574-AEE8-D62CA977B36A}" presName="diagram" presStyleCnt="0">
        <dgm:presLayoutVars>
          <dgm:dir/>
          <dgm:resizeHandles val="exact"/>
        </dgm:presLayoutVars>
      </dgm:prSet>
      <dgm:spPr/>
    </dgm:pt>
    <dgm:pt modelId="{FA5CD15F-B2A3-4F5D-A1B4-8BA2C41F6CCF}" type="pres">
      <dgm:prSet presAssocID="{26673829-0A02-4B5E-9582-B1E773D567D3}" presName="node" presStyleLbl="node1" presStyleIdx="0" presStyleCnt="4">
        <dgm:presLayoutVars>
          <dgm:bulletEnabled val="1"/>
        </dgm:presLayoutVars>
      </dgm:prSet>
      <dgm:spPr/>
    </dgm:pt>
    <dgm:pt modelId="{77C3082A-121F-454D-A47C-C62FF44A2728}" type="pres">
      <dgm:prSet presAssocID="{5066A954-A60D-4B9B-AC5D-B0BFD9F53F26}" presName="sibTrans" presStyleCnt="0"/>
      <dgm:spPr/>
    </dgm:pt>
    <dgm:pt modelId="{404AEB8B-D7B0-49CF-B171-5E4110826F1A}" type="pres">
      <dgm:prSet presAssocID="{B87D3D89-5698-4FA7-8475-AC756CE0AD8D}" presName="node" presStyleLbl="node1" presStyleIdx="1" presStyleCnt="4">
        <dgm:presLayoutVars>
          <dgm:bulletEnabled val="1"/>
        </dgm:presLayoutVars>
      </dgm:prSet>
      <dgm:spPr/>
    </dgm:pt>
    <dgm:pt modelId="{0F52620C-9997-47A4-B672-3E7B0D961CB1}" type="pres">
      <dgm:prSet presAssocID="{EFF758DA-3BDF-4B81-8C45-CEFA1B6EF4E3}" presName="sibTrans" presStyleCnt="0"/>
      <dgm:spPr/>
    </dgm:pt>
    <dgm:pt modelId="{90C5CF87-097C-449F-BCD7-7146398051BD}" type="pres">
      <dgm:prSet presAssocID="{7099023F-EC82-40EE-9E88-3B8A36038EEA}" presName="node" presStyleLbl="node1" presStyleIdx="2" presStyleCnt="4">
        <dgm:presLayoutVars>
          <dgm:bulletEnabled val="1"/>
        </dgm:presLayoutVars>
      </dgm:prSet>
      <dgm:spPr/>
    </dgm:pt>
    <dgm:pt modelId="{23161C55-0EA6-4549-B7DE-78337D2D5B6E}" type="pres">
      <dgm:prSet presAssocID="{B7098DB4-CA5C-48EF-B36F-65503971FD14}" presName="sibTrans" presStyleCnt="0"/>
      <dgm:spPr/>
    </dgm:pt>
    <dgm:pt modelId="{28C8631E-02F5-4D21-8D2C-419129CF19E1}" type="pres">
      <dgm:prSet presAssocID="{D09B5037-DD05-44B2-BD89-026FCFC09BC5}" presName="node" presStyleLbl="node1" presStyleIdx="3" presStyleCnt="4">
        <dgm:presLayoutVars>
          <dgm:bulletEnabled val="1"/>
        </dgm:presLayoutVars>
      </dgm:prSet>
      <dgm:spPr/>
    </dgm:pt>
  </dgm:ptLst>
  <dgm:cxnLst>
    <dgm:cxn modelId="{6CC69300-32E6-4358-84DE-B1731C0BE2FD}" type="presOf" srcId="{26673829-0A02-4B5E-9582-B1E773D567D3}" destId="{FA5CD15F-B2A3-4F5D-A1B4-8BA2C41F6CCF}" srcOrd="0" destOrd="0" presId="urn:microsoft.com/office/officeart/2005/8/layout/default"/>
    <dgm:cxn modelId="{F711E724-9213-4D39-A8A0-779951451DC5}" type="presOf" srcId="{7099023F-EC82-40EE-9E88-3B8A36038EEA}" destId="{90C5CF87-097C-449F-BCD7-7146398051BD}" srcOrd="0" destOrd="0" presId="urn:microsoft.com/office/officeart/2005/8/layout/default"/>
    <dgm:cxn modelId="{E9333179-3FCC-4DBC-B790-08FC9E4ABBA6}" type="presOf" srcId="{D09B5037-DD05-44B2-BD89-026FCFC09BC5}" destId="{28C8631E-02F5-4D21-8D2C-419129CF19E1}" srcOrd="0" destOrd="0" presId="urn:microsoft.com/office/officeart/2005/8/layout/default"/>
    <dgm:cxn modelId="{255484AA-1EF6-408C-A1A7-F16D8085AD31}" srcId="{D9D32A94-7043-4574-AEE8-D62CA977B36A}" destId="{26673829-0A02-4B5E-9582-B1E773D567D3}" srcOrd="0" destOrd="0" parTransId="{C5C9734E-BB87-4C10-AC68-B1E6ABF1A09B}" sibTransId="{5066A954-A60D-4B9B-AC5D-B0BFD9F53F26}"/>
    <dgm:cxn modelId="{50339AB7-9232-4403-B133-23877D5D9B59}" srcId="{D9D32A94-7043-4574-AEE8-D62CA977B36A}" destId="{B87D3D89-5698-4FA7-8475-AC756CE0AD8D}" srcOrd="1" destOrd="0" parTransId="{B1972F99-9266-463A-997F-07BFBA426FB1}" sibTransId="{EFF758DA-3BDF-4B81-8C45-CEFA1B6EF4E3}"/>
    <dgm:cxn modelId="{240D35B8-DA24-43C4-BB71-37CC2102E0AE}" srcId="{D9D32A94-7043-4574-AEE8-D62CA977B36A}" destId="{D09B5037-DD05-44B2-BD89-026FCFC09BC5}" srcOrd="3" destOrd="0" parTransId="{BDF847B1-5766-4B0B-BC86-514C970EB770}" sibTransId="{785E3AAA-2EC2-40A8-8125-39E6EB8B0CEE}"/>
    <dgm:cxn modelId="{BB2EF0CD-4916-472E-8C85-BA888ABC88D3}" srcId="{D9D32A94-7043-4574-AEE8-D62CA977B36A}" destId="{7099023F-EC82-40EE-9E88-3B8A36038EEA}" srcOrd="2" destOrd="0" parTransId="{E9BA2EE2-9D14-46F6-8649-25AA78996CB1}" sibTransId="{B7098DB4-CA5C-48EF-B36F-65503971FD14}"/>
    <dgm:cxn modelId="{92B12BCF-1414-4621-96FC-66D44A2D6B25}" type="presOf" srcId="{D9D32A94-7043-4574-AEE8-D62CA977B36A}" destId="{7A3BC315-5A9B-4B4E-B307-FF25ED5D18D5}" srcOrd="0" destOrd="0" presId="urn:microsoft.com/office/officeart/2005/8/layout/default"/>
    <dgm:cxn modelId="{E2CE4EFA-8576-4CF6-9183-081D87BD4AD7}" type="presOf" srcId="{B87D3D89-5698-4FA7-8475-AC756CE0AD8D}" destId="{404AEB8B-D7B0-49CF-B171-5E4110826F1A}" srcOrd="0" destOrd="0" presId="urn:microsoft.com/office/officeart/2005/8/layout/default"/>
    <dgm:cxn modelId="{1195EEC7-C562-492B-838D-026804E0F5CE}" type="presParOf" srcId="{7A3BC315-5A9B-4B4E-B307-FF25ED5D18D5}" destId="{FA5CD15F-B2A3-4F5D-A1B4-8BA2C41F6CCF}" srcOrd="0" destOrd="0" presId="urn:microsoft.com/office/officeart/2005/8/layout/default"/>
    <dgm:cxn modelId="{68667E3C-BA98-448A-8558-E44604A2B77F}" type="presParOf" srcId="{7A3BC315-5A9B-4B4E-B307-FF25ED5D18D5}" destId="{77C3082A-121F-454D-A47C-C62FF44A2728}" srcOrd="1" destOrd="0" presId="urn:microsoft.com/office/officeart/2005/8/layout/default"/>
    <dgm:cxn modelId="{560D4763-DC6C-4A2D-88D1-BC8463614121}" type="presParOf" srcId="{7A3BC315-5A9B-4B4E-B307-FF25ED5D18D5}" destId="{404AEB8B-D7B0-49CF-B171-5E4110826F1A}" srcOrd="2" destOrd="0" presId="urn:microsoft.com/office/officeart/2005/8/layout/default"/>
    <dgm:cxn modelId="{81B98851-C3ED-44E2-A054-0A8BA07C688D}" type="presParOf" srcId="{7A3BC315-5A9B-4B4E-B307-FF25ED5D18D5}" destId="{0F52620C-9997-47A4-B672-3E7B0D961CB1}" srcOrd="3" destOrd="0" presId="urn:microsoft.com/office/officeart/2005/8/layout/default"/>
    <dgm:cxn modelId="{6EAC6EC1-D5D6-4591-97C3-A1D4AB69F4C1}" type="presParOf" srcId="{7A3BC315-5A9B-4B4E-B307-FF25ED5D18D5}" destId="{90C5CF87-097C-449F-BCD7-7146398051BD}" srcOrd="4" destOrd="0" presId="urn:microsoft.com/office/officeart/2005/8/layout/default"/>
    <dgm:cxn modelId="{2EFFA9FF-BE11-47BF-A2A3-5312B3C23CE4}" type="presParOf" srcId="{7A3BC315-5A9B-4B4E-B307-FF25ED5D18D5}" destId="{23161C55-0EA6-4549-B7DE-78337D2D5B6E}" srcOrd="5" destOrd="0" presId="urn:microsoft.com/office/officeart/2005/8/layout/default"/>
    <dgm:cxn modelId="{E2CDB317-C19E-4113-B18B-C19626841D36}" type="presParOf" srcId="{7A3BC315-5A9B-4B4E-B307-FF25ED5D18D5}" destId="{28C8631E-02F5-4D21-8D2C-419129CF19E1}"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A9AF31-405A-472A-AE90-ED61303443E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6BDE7C5-C08F-47C2-BF79-EE99CB1BC1C7}">
      <dgm:prSet/>
      <dgm:spPr/>
      <dgm:t>
        <a:bodyPr/>
        <a:lstStyle/>
        <a:p>
          <a:r>
            <a:rPr lang="en-US"/>
            <a:t>Study Population: 1,228 women (18–40 years) with prior pregnancy loss</a:t>
          </a:r>
        </a:p>
      </dgm:t>
    </dgm:pt>
    <dgm:pt modelId="{3E2472C6-E976-4120-BCB3-B9A86B4516E2}" type="parTrans" cxnId="{A0F56A91-BDBC-4BA3-B180-50ED97FF46BE}">
      <dgm:prSet/>
      <dgm:spPr/>
      <dgm:t>
        <a:bodyPr/>
        <a:lstStyle/>
        <a:p>
          <a:endParaRPr lang="en-US"/>
        </a:p>
      </dgm:t>
    </dgm:pt>
    <dgm:pt modelId="{3B3D47B1-B19F-4894-A7DA-2B8F6C60FD13}" type="sibTrans" cxnId="{A0F56A91-BDBC-4BA3-B180-50ED97FF46BE}">
      <dgm:prSet/>
      <dgm:spPr/>
      <dgm:t>
        <a:bodyPr/>
        <a:lstStyle/>
        <a:p>
          <a:endParaRPr lang="en-US"/>
        </a:p>
      </dgm:t>
    </dgm:pt>
    <dgm:pt modelId="{70312B60-5957-481F-AA74-3A6F9A362B54}">
      <dgm:prSet/>
      <dgm:spPr/>
      <dgm:t>
        <a:bodyPr/>
        <a:lstStyle/>
        <a:p>
          <a:r>
            <a:rPr lang="en-US" dirty="0"/>
            <a:t>Exposure: Serum ferritin at baseline, dichotomized by iron deficiency cutoff</a:t>
          </a:r>
        </a:p>
      </dgm:t>
    </dgm:pt>
    <dgm:pt modelId="{FB0F2376-ED31-4BC3-832C-0368DC14F03F}" type="parTrans" cxnId="{57FFF808-A070-4420-B3B5-6694A14258BF}">
      <dgm:prSet/>
      <dgm:spPr/>
      <dgm:t>
        <a:bodyPr/>
        <a:lstStyle/>
        <a:p>
          <a:endParaRPr lang="en-US"/>
        </a:p>
      </dgm:t>
    </dgm:pt>
    <dgm:pt modelId="{39820724-2B54-4BF7-A4BD-4AE6E6AE8526}" type="sibTrans" cxnId="{57FFF808-A070-4420-B3B5-6694A14258BF}">
      <dgm:prSet/>
      <dgm:spPr/>
      <dgm:t>
        <a:bodyPr/>
        <a:lstStyle/>
        <a:p>
          <a:endParaRPr lang="en-US"/>
        </a:p>
      </dgm:t>
    </dgm:pt>
    <dgm:pt modelId="{CF5DC7A2-389A-4B7D-99FA-F61F9CE951B5}">
      <dgm:prSet/>
      <dgm:spPr/>
      <dgm:t>
        <a:bodyPr/>
        <a:lstStyle/>
        <a:p>
          <a:r>
            <a:rPr lang="en-US" dirty="0"/>
            <a:t>Outcome: Miscarriage</a:t>
          </a:r>
        </a:p>
      </dgm:t>
    </dgm:pt>
    <dgm:pt modelId="{5828E51A-FB18-4876-A829-A32BAAB0D523}" type="parTrans" cxnId="{C235E1AF-2276-4FF2-B9FF-F8B11C776462}">
      <dgm:prSet/>
      <dgm:spPr/>
      <dgm:t>
        <a:bodyPr/>
        <a:lstStyle/>
        <a:p>
          <a:endParaRPr lang="en-US"/>
        </a:p>
      </dgm:t>
    </dgm:pt>
    <dgm:pt modelId="{39A7F3A6-5012-4B17-981B-F76881249772}" type="sibTrans" cxnId="{C235E1AF-2276-4FF2-B9FF-F8B11C776462}">
      <dgm:prSet/>
      <dgm:spPr/>
      <dgm:t>
        <a:bodyPr/>
        <a:lstStyle/>
        <a:p>
          <a:endParaRPr lang="en-US"/>
        </a:p>
      </dgm:t>
    </dgm:pt>
    <dgm:pt modelId="{5B9A8AC3-322A-4235-80BB-67F1B63A9999}">
      <dgm:prSet/>
      <dgm:spPr/>
      <dgm:t>
        <a:bodyPr/>
        <a:lstStyle/>
        <a:p>
          <a:r>
            <a:rPr lang="en-US" dirty="0"/>
            <a:t>Covariates: Age, BMI, race, parity, income, smoking, vitamins, exercise, aspirin treatment</a:t>
          </a:r>
        </a:p>
      </dgm:t>
    </dgm:pt>
    <dgm:pt modelId="{5ACF7794-952F-4254-8C58-4CBA30398D38}" type="parTrans" cxnId="{5E811DAD-8F69-4FCA-8E27-E3EC78296E18}">
      <dgm:prSet/>
      <dgm:spPr/>
      <dgm:t>
        <a:bodyPr/>
        <a:lstStyle/>
        <a:p>
          <a:endParaRPr lang="en-US"/>
        </a:p>
      </dgm:t>
    </dgm:pt>
    <dgm:pt modelId="{FFD8D6EF-F9B2-4FD2-952A-147EB2320B6B}" type="sibTrans" cxnId="{5E811DAD-8F69-4FCA-8E27-E3EC78296E18}">
      <dgm:prSet/>
      <dgm:spPr/>
      <dgm:t>
        <a:bodyPr/>
        <a:lstStyle/>
        <a:p>
          <a:endParaRPr lang="en-US"/>
        </a:p>
      </dgm:t>
    </dgm:pt>
    <dgm:pt modelId="{148326D6-F720-4348-800A-95BAD9A83656}">
      <dgm:prSet/>
      <dgm:spPr/>
      <dgm:t>
        <a:bodyPr/>
        <a:lstStyle/>
        <a:p>
          <a:r>
            <a:rPr lang="en-US" dirty="0"/>
            <a:t>Primary Analysis: Poisson regression with inverse probability weights (IPW)</a:t>
          </a:r>
        </a:p>
      </dgm:t>
    </dgm:pt>
    <dgm:pt modelId="{2AFF3EE4-A706-4CEC-AA9F-8A269F32323B}" type="parTrans" cxnId="{8B8DCBC2-4732-4ADB-8EC3-B5BA6AABB432}">
      <dgm:prSet/>
      <dgm:spPr/>
      <dgm:t>
        <a:bodyPr/>
        <a:lstStyle/>
        <a:p>
          <a:endParaRPr lang="en-US"/>
        </a:p>
      </dgm:t>
    </dgm:pt>
    <dgm:pt modelId="{D631BF15-DE10-4F17-8CBC-94CF8485B9E9}" type="sibTrans" cxnId="{8B8DCBC2-4732-4ADB-8EC3-B5BA6AABB432}">
      <dgm:prSet/>
      <dgm:spPr/>
      <dgm:t>
        <a:bodyPr/>
        <a:lstStyle/>
        <a:p>
          <a:endParaRPr lang="en-US"/>
        </a:p>
      </dgm:t>
    </dgm:pt>
    <dgm:pt modelId="{9101F46F-032D-4B19-AA77-5D3954E6E8D7}" type="pres">
      <dgm:prSet presAssocID="{1FA9AF31-405A-472A-AE90-ED61303443E2}" presName="linear" presStyleCnt="0">
        <dgm:presLayoutVars>
          <dgm:animLvl val="lvl"/>
          <dgm:resizeHandles val="exact"/>
        </dgm:presLayoutVars>
      </dgm:prSet>
      <dgm:spPr/>
    </dgm:pt>
    <dgm:pt modelId="{3B78B52E-8594-41E4-99DB-60650D2580F3}" type="pres">
      <dgm:prSet presAssocID="{66BDE7C5-C08F-47C2-BF79-EE99CB1BC1C7}" presName="parentText" presStyleLbl="node1" presStyleIdx="0" presStyleCnt="5">
        <dgm:presLayoutVars>
          <dgm:chMax val="0"/>
          <dgm:bulletEnabled val="1"/>
        </dgm:presLayoutVars>
      </dgm:prSet>
      <dgm:spPr/>
    </dgm:pt>
    <dgm:pt modelId="{AEB912F4-2D3B-42C8-A885-92E9B6DE5ADB}" type="pres">
      <dgm:prSet presAssocID="{3B3D47B1-B19F-4894-A7DA-2B8F6C60FD13}" presName="spacer" presStyleCnt="0"/>
      <dgm:spPr/>
    </dgm:pt>
    <dgm:pt modelId="{B94445C6-396F-41A3-8212-7B1D852475AF}" type="pres">
      <dgm:prSet presAssocID="{70312B60-5957-481F-AA74-3A6F9A362B54}" presName="parentText" presStyleLbl="node1" presStyleIdx="1" presStyleCnt="5">
        <dgm:presLayoutVars>
          <dgm:chMax val="0"/>
          <dgm:bulletEnabled val="1"/>
        </dgm:presLayoutVars>
      </dgm:prSet>
      <dgm:spPr/>
    </dgm:pt>
    <dgm:pt modelId="{17271C27-6FC2-4993-A96C-CB110113E2C7}" type="pres">
      <dgm:prSet presAssocID="{39820724-2B54-4BF7-A4BD-4AE6E6AE8526}" presName="spacer" presStyleCnt="0"/>
      <dgm:spPr/>
    </dgm:pt>
    <dgm:pt modelId="{7E2E59E2-49FC-45A1-BEB8-4DA2CBD88345}" type="pres">
      <dgm:prSet presAssocID="{CF5DC7A2-389A-4B7D-99FA-F61F9CE951B5}" presName="parentText" presStyleLbl="node1" presStyleIdx="2" presStyleCnt="5">
        <dgm:presLayoutVars>
          <dgm:chMax val="0"/>
          <dgm:bulletEnabled val="1"/>
        </dgm:presLayoutVars>
      </dgm:prSet>
      <dgm:spPr/>
    </dgm:pt>
    <dgm:pt modelId="{CA7BDC97-4D92-415F-99A7-DD8A42F29677}" type="pres">
      <dgm:prSet presAssocID="{39A7F3A6-5012-4B17-981B-F76881249772}" presName="spacer" presStyleCnt="0"/>
      <dgm:spPr/>
    </dgm:pt>
    <dgm:pt modelId="{981E78C6-2245-4483-A60C-30FA5EBBF98C}" type="pres">
      <dgm:prSet presAssocID="{5B9A8AC3-322A-4235-80BB-67F1B63A9999}" presName="parentText" presStyleLbl="node1" presStyleIdx="3" presStyleCnt="5">
        <dgm:presLayoutVars>
          <dgm:chMax val="0"/>
          <dgm:bulletEnabled val="1"/>
        </dgm:presLayoutVars>
      </dgm:prSet>
      <dgm:spPr/>
    </dgm:pt>
    <dgm:pt modelId="{9A9F167B-3A7A-4DD9-A11E-CE67DA78A6DE}" type="pres">
      <dgm:prSet presAssocID="{FFD8D6EF-F9B2-4FD2-952A-147EB2320B6B}" presName="spacer" presStyleCnt="0"/>
      <dgm:spPr/>
    </dgm:pt>
    <dgm:pt modelId="{F7E3C66C-4F54-4010-922F-C72BD0105622}" type="pres">
      <dgm:prSet presAssocID="{148326D6-F720-4348-800A-95BAD9A83656}" presName="parentText" presStyleLbl="node1" presStyleIdx="4" presStyleCnt="5">
        <dgm:presLayoutVars>
          <dgm:chMax val="0"/>
          <dgm:bulletEnabled val="1"/>
        </dgm:presLayoutVars>
      </dgm:prSet>
      <dgm:spPr/>
    </dgm:pt>
  </dgm:ptLst>
  <dgm:cxnLst>
    <dgm:cxn modelId="{57FFF808-A070-4420-B3B5-6694A14258BF}" srcId="{1FA9AF31-405A-472A-AE90-ED61303443E2}" destId="{70312B60-5957-481F-AA74-3A6F9A362B54}" srcOrd="1" destOrd="0" parTransId="{FB0F2376-ED31-4BC3-832C-0368DC14F03F}" sibTransId="{39820724-2B54-4BF7-A4BD-4AE6E6AE8526}"/>
    <dgm:cxn modelId="{5A9B9418-ECE0-40C3-B4DA-95DBF7FEC4FF}" type="presOf" srcId="{70312B60-5957-481F-AA74-3A6F9A362B54}" destId="{B94445C6-396F-41A3-8212-7B1D852475AF}" srcOrd="0" destOrd="0" presId="urn:microsoft.com/office/officeart/2005/8/layout/vList2"/>
    <dgm:cxn modelId="{D38DD760-6FAB-41CD-9F0D-0520C1A530A2}" type="presOf" srcId="{CF5DC7A2-389A-4B7D-99FA-F61F9CE951B5}" destId="{7E2E59E2-49FC-45A1-BEB8-4DA2CBD88345}" srcOrd="0" destOrd="0" presId="urn:microsoft.com/office/officeart/2005/8/layout/vList2"/>
    <dgm:cxn modelId="{C6905A76-5D9C-446E-AB34-7B16A37A20BF}" type="presOf" srcId="{1FA9AF31-405A-472A-AE90-ED61303443E2}" destId="{9101F46F-032D-4B19-AA77-5D3954E6E8D7}" srcOrd="0" destOrd="0" presId="urn:microsoft.com/office/officeart/2005/8/layout/vList2"/>
    <dgm:cxn modelId="{82B2648B-3D14-454C-9925-7098DF3E18DC}" type="presOf" srcId="{148326D6-F720-4348-800A-95BAD9A83656}" destId="{F7E3C66C-4F54-4010-922F-C72BD0105622}" srcOrd="0" destOrd="0" presId="urn:microsoft.com/office/officeart/2005/8/layout/vList2"/>
    <dgm:cxn modelId="{A0F56A91-BDBC-4BA3-B180-50ED97FF46BE}" srcId="{1FA9AF31-405A-472A-AE90-ED61303443E2}" destId="{66BDE7C5-C08F-47C2-BF79-EE99CB1BC1C7}" srcOrd="0" destOrd="0" parTransId="{3E2472C6-E976-4120-BCB3-B9A86B4516E2}" sibTransId="{3B3D47B1-B19F-4894-A7DA-2B8F6C60FD13}"/>
    <dgm:cxn modelId="{5E811DAD-8F69-4FCA-8E27-E3EC78296E18}" srcId="{1FA9AF31-405A-472A-AE90-ED61303443E2}" destId="{5B9A8AC3-322A-4235-80BB-67F1B63A9999}" srcOrd="3" destOrd="0" parTransId="{5ACF7794-952F-4254-8C58-4CBA30398D38}" sibTransId="{FFD8D6EF-F9B2-4FD2-952A-147EB2320B6B}"/>
    <dgm:cxn modelId="{C235E1AF-2276-4FF2-B9FF-F8B11C776462}" srcId="{1FA9AF31-405A-472A-AE90-ED61303443E2}" destId="{CF5DC7A2-389A-4B7D-99FA-F61F9CE951B5}" srcOrd="2" destOrd="0" parTransId="{5828E51A-FB18-4876-A829-A32BAAB0D523}" sibTransId="{39A7F3A6-5012-4B17-981B-F76881249772}"/>
    <dgm:cxn modelId="{454665B6-FDFE-4A80-BC13-8DC15F771A50}" type="presOf" srcId="{5B9A8AC3-322A-4235-80BB-67F1B63A9999}" destId="{981E78C6-2245-4483-A60C-30FA5EBBF98C}" srcOrd="0" destOrd="0" presId="urn:microsoft.com/office/officeart/2005/8/layout/vList2"/>
    <dgm:cxn modelId="{8B8DCBC2-4732-4ADB-8EC3-B5BA6AABB432}" srcId="{1FA9AF31-405A-472A-AE90-ED61303443E2}" destId="{148326D6-F720-4348-800A-95BAD9A83656}" srcOrd="4" destOrd="0" parTransId="{2AFF3EE4-A706-4CEC-AA9F-8A269F32323B}" sibTransId="{D631BF15-DE10-4F17-8CBC-94CF8485B9E9}"/>
    <dgm:cxn modelId="{865D71CF-EB2F-4D08-9A05-7AADA074E257}" type="presOf" srcId="{66BDE7C5-C08F-47C2-BF79-EE99CB1BC1C7}" destId="{3B78B52E-8594-41E4-99DB-60650D2580F3}" srcOrd="0" destOrd="0" presId="urn:microsoft.com/office/officeart/2005/8/layout/vList2"/>
    <dgm:cxn modelId="{1DCCC9C4-3CDF-4C11-A862-ABC35277AC9F}" type="presParOf" srcId="{9101F46F-032D-4B19-AA77-5D3954E6E8D7}" destId="{3B78B52E-8594-41E4-99DB-60650D2580F3}" srcOrd="0" destOrd="0" presId="urn:microsoft.com/office/officeart/2005/8/layout/vList2"/>
    <dgm:cxn modelId="{CD521131-F79E-4593-94FD-DEF523FB50D7}" type="presParOf" srcId="{9101F46F-032D-4B19-AA77-5D3954E6E8D7}" destId="{AEB912F4-2D3B-42C8-A885-92E9B6DE5ADB}" srcOrd="1" destOrd="0" presId="urn:microsoft.com/office/officeart/2005/8/layout/vList2"/>
    <dgm:cxn modelId="{2448B283-3163-4304-A5FA-0A32D38E1857}" type="presParOf" srcId="{9101F46F-032D-4B19-AA77-5D3954E6E8D7}" destId="{B94445C6-396F-41A3-8212-7B1D852475AF}" srcOrd="2" destOrd="0" presId="urn:microsoft.com/office/officeart/2005/8/layout/vList2"/>
    <dgm:cxn modelId="{CE52C094-2A63-4E89-83F9-BBF4C169AF78}" type="presParOf" srcId="{9101F46F-032D-4B19-AA77-5D3954E6E8D7}" destId="{17271C27-6FC2-4993-A96C-CB110113E2C7}" srcOrd="3" destOrd="0" presId="urn:microsoft.com/office/officeart/2005/8/layout/vList2"/>
    <dgm:cxn modelId="{D965F685-AAAB-4BE4-A225-4EEF2C0E41A8}" type="presParOf" srcId="{9101F46F-032D-4B19-AA77-5D3954E6E8D7}" destId="{7E2E59E2-49FC-45A1-BEB8-4DA2CBD88345}" srcOrd="4" destOrd="0" presId="urn:microsoft.com/office/officeart/2005/8/layout/vList2"/>
    <dgm:cxn modelId="{A9118026-1C34-405F-9913-905077FBFEA0}" type="presParOf" srcId="{9101F46F-032D-4B19-AA77-5D3954E6E8D7}" destId="{CA7BDC97-4D92-415F-99A7-DD8A42F29677}" srcOrd="5" destOrd="0" presId="urn:microsoft.com/office/officeart/2005/8/layout/vList2"/>
    <dgm:cxn modelId="{1267BD66-AAC4-46B5-9856-988512CB3AED}" type="presParOf" srcId="{9101F46F-032D-4B19-AA77-5D3954E6E8D7}" destId="{981E78C6-2245-4483-A60C-30FA5EBBF98C}" srcOrd="6" destOrd="0" presId="urn:microsoft.com/office/officeart/2005/8/layout/vList2"/>
    <dgm:cxn modelId="{72375C7E-FF7A-42AD-BDF1-0842AC81537E}" type="presParOf" srcId="{9101F46F-032D-4B19-AA77-5D3954E6E8D7}" destId="{9A9F167B-3A7A-4DD9-A11E-CE67DA78A6DE}" srcOrd="7" destOrd="0" presId="urn:microsoft.com/office/officeart/2005/8/layout/vList2"/>
    <dgm:cxn modelId="{6BE8314F-82EA-427E-91D2-7AC6BCD70838}" type="presParOf" srcId="{9101F46F-032D-4B19-AA77-5D3954E6E8D7}" destId="{F7E3C66C-4F54-4010-922F-C72BD0105622}"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CD15F-B2A3-4F5D-A1B4-8BA2C41F6CCF}">
      <dsp:nvSpPr>
        <dsp:cNvPr id="0" name=""/>
        <dsp:cNvSpPr/>
      </dsp:nvSpPr>
      <dsp:spPr>
        <a:xfrm>
          <a:off x="715337" y="2413"/>
          <a:ext cx="3221521" cy="1932912"/>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Miscarriage affects 10–20% of recognized pregnancies</a:t>
          </a:r>
        </a:p>
      </dsp:txBody>
      <dsp:txXfrm>
        <a:off x="715337" y="2413"/>
        <a:ext cx="3221521" cy="1932912"/>
      </dsp:txXfrm>
    </dsp:sp>
    <dsp:sp modelId="{404AEB8B-D7B0-49CF-B171-5E4110826F1A}">
      <dsp:nvSpPr>
        <dsp:cNvPr id="0" name=""/>
        <dsp:cNvSpPr/>
      </dsp:nvSpPr>
      <dsp:spPr>
        <a:xfrm>
          <a:off x="4259011" y="2413"/>
          <a:ext cx="3221521" cy="1932912"/>
        </a:xfrm>
        <a:prstGeom prst="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Iron’s role in reproductive health</a:t>
          </a:r>
        </a:p>
      </dsp:txBody>
      <dsp:txXfrm>
        <a:off x="4259011" y="2413"/>
        <a:ext cx="3221521" cy="1932912"/>
      </dsp:txXfrm>
    </dsp:sp>
    <dsp:sp modelId="{90C5CF87-097C-449F-BCD7-7146398051BD}">
      <dsp:nvSpPr>
        <dsp:cNvPr id="0" name=""/>
        <dsp:cNvSpPr/>
      </dsp:nvSpPr>
      <dsp:spPr>
        <a:xfrm>
          <a:off x="715337" y="2257478"/>
          <a:ext cx="3221521" cy="1932912"/>
        </a:xfrm>
        <a:prstGeom prst="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Serum ferritin as biomarker of iron stores</a:t>
          </a:r>
        </a:p>
      </dsp:txBody>
      <dsp:txXfrm>
        <a:off x="715337" y="2257478"/>
        <a:ext cx="3221521" cy="1932912"/>
      </dsp:txXfrm>
    </dsp:sp>
    <dsp:sp modelId="{28C8631E-02F5-4D21-8D2C-419129CF19E1}">
      <dsp:nvSpPr>
        <dsp:cNvPr id="0" name=""/>
        <dsp:cNvSpPr/>
      </dsp:nvSpPr>
      <dsp:spPr>
        <a:xfrm>
          <a:off x="4259011" y="2257478"/>
          <a:ext cx="3221521" cy="1932912"/>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Research question: Does low ferritin increase miscarriage risk?</a:t>
          </a:r>
        </a:p>
      </dsp:txBody>
      <dsp:txXfrm>
        <a:off x="4259011" y="2257478"/>
        <a:ext cx="3221521" cy="19329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78B52E-8594-41E4-99DB-60650D2580F3}">
      <dsp:nvSpPr>
        <dsp:cNvPr id="0" name=""/>
        <dsp:cNvSpPr/>
      </dsp:nvSpPr>
      <dsp:spPr>
        <a:xfrm>
          <a:off x="0" y="56450"/>
          <a:ext cx="8229600" cy="8342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Study Population: 1,228 women (18–40 years) with prior pregnancy loss</a:t>
          </a:r>
        </a:p>
      </dsp:txBody>
      <dsp:txXfrm>
        <a:off x="40724" y="97174"/>
        <a:ext cx="8148152" cy="752780"/>
      </dsp:txXfrm>
    </dsp:sp>
    <dsp:sp modelId="{B94445C6-396F-41A3-8212-7B1D852475AF}">
      <dsp:nvSpPr>
        <dsp:cNvPr id="0" name=""/>
        <dsp:cNvSpPr/>
      </dsp:nvSpPr>
      <dsp:spPr>
        <a:xfrm>
          <a:off x="0" y="951159"/>
          <a:ext cx="8229600" cy="8342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Exposure: Serum ferritin at baseline, dichotomized by iron deficiency cutoff</a:t>
          </a:r>
        </a:p>
      </dsp:txBody>
      <dsp:txXfrm>
        <a:off x="40724" y="991883"/>
        <a:ext cx="8148152" cy="752780"/>
      </dsp:txXfrm>
    </dsp:sp>
    <dsp:sp modelId="{7E2E59E2-49FC-45A1-BEB8-4DA2CBD88345}">
      <dsp:nvSpPr>
        <dsp:cNvPr id="0" name=""/>
        <dsp:cNvSpPr/>
      </dsp:nvSpPr>
      <dsp:spPr>
        <a:xfrm>
          <a:off x="0" y="1845867"/>
          <a:ext cx="8229600" cy="8342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Outcome: Miscarriage</a:t>
          </a:r>
        </a:p>
      </dsp:txBody>
      <dsp:txXfrm>
        <a:off x="40724" y="1886591"/>
        <a:ext cx="8148152" cy="752780"/>
      </dsp:txXfrm>
    </dsp:sp>
    <dsp:sp modelId="{981E78C6-2245-4483-A60C-30FA5EBBF98C}">
      <dsp:nvSpPr>
        <dsp:cNvPr id="0" name=""/>
        <dsp:cNvSpPr/>
      </dsp:nvSpPr>
      <dsp:spPr>
        <a:xfrm>
          <a:off x="0" y="2740575"/>
          <a:ext cx="8229600" cy="8342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Covariates: Age, BMI, race, parity, income, smoking, vitamins, exercise, aspirin treatment</a:t>
          </a:r>
        </a:p>
      </dsp:txBody>
      <dsp:txXfrm>
        <a:off x="40724" y="2781299"/>
        <a:ext cx="8148152" cy="752780"/>
      </dsp:txXfrm>
    </dsp:sp>
    <dsp:sp modelId="{F7E3C66C-4F54-4010-922F-C72BD0105622}">
      <dsp:nvSpPr>
        <dsp:cNvPr id="0" name=""/>
        <dsp:cNvSpPr/>
      </dsp:nvSpPr>
      <dsp:spPr>
        <a:xfrm>
          <a:off x="0" y="3635283"/>
          <a:ext cx="8229600" cy="8342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Primary Analysis: Poisson regression with inverse probability weights (IPW)</a:t>
          </a:r>
        </a:p>
      </dsp:txBody>
      <dsp:txXfrm>
        <a:off x="40724" y="3676007"/>
        <a:ext cx="8148152" cy="75278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5543BA-1383-48AF-80F3-B8970D0CAE7B}" type="datetimeFigureOut">
              <a:rPr lang="en-US" smtClean="0"/>
              <a:t>12/3/2025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1B84F5-EC2D-4AEA-A387-9D9481A99C38}" type="slidenum">
              <a:rPr lang="en-US" smtClean="0"/>
              <a:t>‹#›</a:t>
            </a:fld>
            <a:endParaRPr lang="en-US"/>
          </a:p>
        </p:txBody>
      </p:sp>
    </p:spTree>
    <p:extLst>
      <p:ext uri="{BB962C8B-B14F-4D97-AF65-F5344CB8AC3E}">
        <p14:creationId xmlns:p14="http://schemas.microsoft.com/office/powerpoint/2010/main" val="4186571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my final project, it is my goal to understand the relationship between pre-conception iron biomarkers and miscarriage risk. Specifically, I will be investigating this question among women with prior pregnancy loss, using data from the </a:t>
            </a:r>
            <a:r>
              <a:rPr lang="en-US" sz="1200" b="0" i="0" kern="1200" dirty="0" err="1">
                <a:solidFill>
                  <a:schemeClr val="tx1"/>
                </a:solidFill>
                <a:effectLst/>
                <a:latin typeface="+mn-lt"/>
                <a:ea typeface="+mn-ea"/>
                <a:cs typeface="+mn-cs"/>
              </a:rPr>
              <a:t>EAGeR</a:t>
            </a:r>
            <a:r>
              <a:rPr lang="en-US" sz="1200" b="0" i="0" kern="1200" dirty="0">
                <a:solidFill>
                  <a:schemeClr val="tx1"/>
                </a:solidFill>
                <a:effectLst/>
                <a:latin typeface="+mn-lt"/>
                <a:ea typeface="+mn-ea"/>
                <a:cs typeface="+mn-cs"/>
              </a:rPr>
              <a:t> (Effects of Aspirin in Gestation and Reproduction) trial.</a:t>
            </a:r>
          </a:p>
          <a:p>
            <a:r>
              <a:rPr lang="en-US" sz="1200" b="0" i="0" kern="1200" dirty="0">
                <a:solidFill>
                  <a:schemeClr val="tx1"/>
                </a:solidFill>
                <a:effectLst/>
                <a:latin typeface="+mn-lt"/>
                <a:ea typeface="+mn-ea"/>
                <a:cs typeface="+mn-cs"/>
              </a:rPr>
              <a:t>Two faculty members I met with to discuss this project: Sunni Mumford, Professor &amp; Deputy Director, Epidemiology Ellen Caniglia, Assistant Professor, Epidemiology</a:t>
            </a:r>
          </a:p>
          <a:p>
            <a:r>
              <a:rPr lang="en-US" sz="1200" b="0" i="0" kern="1200" dirty="0">
                <a:solidFill>
                  <a:schemeClr val="tx1"/>
                </a:solidFill>
                <a:effectLst/>
                <a:latin typeface="+mn-lt"/>
                <a:ea typeface="+mn-ea"/>
                <a:cs typeface="+mn-cs"/>
              </a:rPr>
              <a:t>Sunni Mumford has worked with </a:t>
            </a:r>
            <a:r>
              <a:rPr lang="en-US" sz="1200" b="0" i="0" kern="1200" dirty="0" err="1">
                <a:solidFill>
                  <a:schemeClr val="tx1"/>
                </a:solidFill>
                <a:effectLst/>
                <a:latin typeface="+mn-lt"/>
                <a:ea typeface="+mn-ea"/>
                <a:cs typeface="+mn-cs"/>
              </a:rPr>
              <a:t>EAGeR</a:t>
            </a:r>
            <a:r>
              <a:rPr lang="en-US" sz="1200" b="0" i="0" kern="1200" dirty="0">
                <a:solidFill>
                  <a:schemeClr val="tx1"/>
                </a:solidFill>
                <a:effectLst/>
                <a:latin typeface="+mn-lt"/>
                <a:ea typeface="+mn-ea"/>
                <a:cs typeface="+mn-cs"/>
              </a:rPr>
              <a:t> data before and informed me about the </a:t>
            </a:r>
            <a:r>
              <a:rPr lang="en-US" sz="1200" b="0" i="0" kern="1200" dirty="0" err="1">
                <a:solidFill>
                  <a:schemeClr val="tx1"/>
                </a:solidFill>
                <a:effectLst/>
                <a:latin typeface="+mn-lt"/>
                <a:ea typeface="+mn-ea"/>
                <a:cs typeface="+mn-cs"/>
              </a:rPr>
              <a:t>EAGeR</a:t>
            </a:r>
            <a:r>
              <a:rPr lang="en-US" sz="1200" b="0" i="0" kern="1200" dirty="0">
                <a:solidFill>
                  <a:schemeClr val="tx1"/>
                </a:solidFill>
                <a:effectLst/>
                <a:latin typeface="+mn-lt"/>
                <a:ea typeface="+mn-ea"/>
                <a:cs typeface="+mn-cs"/>
              </a:rPr>
              <a:t> data structure and best practices for the analyses. We discussed the feasibility of my research question; data is available within </a:t>
            </a:r>
            <a:r>
              <a:rPr lang="en-US" sz="1200" b="0" i="0" kern="1200" dirty="0" err="1">
                <a:solidFill>
                  <a:schemeClr val="tx1"/>
                </a:solidFill>
                <a:effectLst/>
                <a:latin typeface="+mn-lt"/>
                <a:ea typeface="+mn-ea"/>
                <a:cs typeface="+mn-cs"/>
              </a:rPr>
              <a:t>EAGeR</a:t>
            </a:r>
            <a:r>
              <a:rPr lang="en-US" sz="1200" b="0" i="0" kern="1200" dirty="0">
                <a:solidFill>
                  <a:schemeClr val="tx1"/>
                </a:solidFill>
                <a:effectLst/>
                <a:latin typeface="+mn-lt"/>
                <a:ea typeface="+mn-ea"/>
                <a:cs typeface="+mn-cs"/>
              </a:rPr>
              <a:t> on both iron biomarkers and miscarriage. Iron biomarker data is from baseline (preconception) and pregnancy loss data is collected during follow-up with the time metric being gestational weeks until miscarriage or birth. Ellen Caniglia encouraged me to perform a literature review to determine which iron biomarker may be best to use and after discussion, we decided on serum ferritin. With both Dr. Mumford and Dr. Caniglia, I discussed potential confounders based on the literature.</a:t>
            </a:r>
          </a:p>
          <a:p>
            <a:endParaRPr lang="en-US" dirty="0"/>
          </a:p>
        </p:txBody>
      </p:sp>
      <p:sp>
        <p:nvSpPr>
          <p:cNvPr id="4" name="Slide Number Placeholder 3"/>
          <p:cNvSpPr>
            <a:spLocks noGrp="1"/>
          </p:cNvSpPr>
          <p:nvPr>
            <p:ph type="sldNum" sz="quarter" idx="5"/>
          </p:nvPr>
        </p:nvSpPr>
        <p:spPr/>
        <p:txBody>
          <a:bodyPr/>
          <a:lstStyle/>
          <a:p>
            <a:fld id="{C21B84F5-EC2D-4AEA-A387-9D9481A99C38}" type="slidenum">
              <a:rPr lang="en-US" smtClean="0"/>
              <a:t>2</a:t>
            </a:fld>
            <a:endParaRPr lang="en-US"/>
          </a:p>
        </p:txBody>
      </p:sp>
    </p:spTree>
    <p:extLst>
      <p:ext uri="{BB962C8B-B14F-4D97-AF65-F5344CB8AC3E}">
        <p14:creationId xmlns:p14="http://schemas.microsoft.com/office/powerpoint/2010/main" val="3972523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Miscarriage, defined as the spontaneous loss of a pregnancy before 20 weeks of gestation, is a common and emotionally devastating outcome, affecting approximately 10–20% of recognized pregnancies. Despite its prevalence, the underlying causes of miscarriage are not fully understood, particularly among women with a history of pregnancy loss.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Iron, an essential micronutrient involved in oxygen transport, hormone synthesis, and cellular function, plays a critical role in reproductive health. Iron deficiency—even in the absence of anemia—has been associated with impaired implantation, placental development, and increased miscarriage risk.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Serum ferritin, a biomarker of iron stores, is particularly relevant in assessing iron status in women of reproductive age.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final project aims to investigate whether preconception serum ferritin levels are associated with miscarriage risk among women with prior pregnancy loss, using data from the </a:t>
            </a:r>
            <a:r>
              <a:rPr lang="en-US" sz="1200" b="0" i="0" kern="1200" dirty="0" err="1">
                <a:solidFill>
                  <a:schemeClr val="tx1"/>
                </a:solidFill>
                <a:effectLst/>
                <a:latin typeface="+mn-lt"/>
                <a:ea typeface="+mn-ea"/>
                <a:cs typeface="+mn-cs"/>
              </a:rPr>
              <a:t>EAGeR</a:t>
            </a:r>
            <a:r>
              <a:rPr lang="en-US" sz="1200" b="0" i="0" kern="1200" dirty="0">
                <a:solidFill>
                  <a:schemeClr val="tx1"/>
                </a:solidFill>
                <a:effectLst/>
                <a:latin typeface="+mn-lt"/>
                <a:ea typeface="+mn-ea"/>
                <a:cs typeface="+mn-cs"/>
              </a:rPr>
              <a:t> (Effects of Aspirin in Gestation and Reproduction) trial. Hypothesis is listed on slide</a:t>
            </a:r>
            <a:endParaRPr lang="en-US" dirty="0"/>
          </a:p>
        </p:txBody>
      </p:sp>
      <p:sp>
        <p:nvSpPr>
          <p:cNvPr id="4" name="Slide Number Placeholder 3"/>
          <p:cNvSpPr>
            <a:spLocks noGrp="1"/>
          </p:cNvSpPr>
          <p:nvPr>
            <p:ph type="sldNum" sz="quarter" idx="5"/>
          </p:nvPr>
        </p:nvSpPr>
        <p:spPr/>
        <p:txBody>
          <a:bodyPr/>
          <a:lstStyle/>
          <a:p>
            <a:fld id="{C21B84F5-EC2D-4AEA-A387-9D9481A99C38}" type="slidenum">
              <a:rPr lang="en-US" smtClean="0"/>
              <a:t>3</a:t>
            </a:fld>
            <a:endParaRPr lang="en-US"/>
          </a:p>
        </p:txBody>
      </p:sp>
    </p:spTree>
    <p:extLst>
      <p:ext uri="{BB962C8B-B14F-4D97-AF65-F5344CB8AC3E}">
        <p14:creationId xmlns:p14="http://schemas.microsoft.com/office/powerpoint/2010/main" val="542431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Study Population</a:t>
            </a:r>
            <a:r>
              <a:rPr lang="en-US" sz="1200" b="0" i="0" kern="1200" dirty="0">
                <a:solidFill>
                  <a:schemeClr val="tx1"/>
                </a:solidFill>
                <a:effectLst/>
                <a:latin typeface="+mn-lt"/>
                <a:ea typeface="+mn-ea"/>
                <a:cs typeface="+mn-cs"/>
              </a:rPr>
              <a:t> This study utilizes data from the (</a:t>
            </a:r>
            <a:r>
              <a:rPr lang="en-US" sz="1200" b="0" i="0" kern="1200" dirty="0" err="1">
                <a:solidFill>
                  <a:schemeClr val="tx1"/>
                </a:solidFill>
                <a:effectLst/>
                <a:latin typeface="+mn-lt"/>
                <a:ea typeface="+mn-ea"/>
                <a:cs typeface="+mn-cs"/>
              </a:rPr>
              <a:t>EAGeR</a:t>
            </a:r>
            <a:r>
              <a:rPr lang="en-US" sz="1200" b="0" i="0" kern="1200" dirty="0">
                <a:solidFill>
                  <a:schemeClr val="tx1"/>
                </a:solidFill>
                <a:effectLst/>
                <a:latin typeface="+mn-lt"/>
                <a:ea typeface="+mn-ea"/>
                <a:cs typeface="+mn-cs"/>
              </a:rPr>
              <a:t>) trial, a multi-site randomized controlled trial designed to evaluate the impact of low-dose aspirin on reproductive outcomes. The analytic sample includes 1,228 women aged 18–40 years who had experienced one or two prior pregnancy losses and were actively attempting to conceive. Participants were followed until miscarriage or birth occurred, with pregnancy outcomes tracked in gestational weeks.</a:t>
            </a:r>
          </a:p>
          <a:p>
            <a:r>
              <a:rPr lang="en-US" sz="1200" b="1" i="0" kern="1200" dirty="0">
                <a:solidFill>
                  <a:schemeClr val="tx1"/>
                </a:solidFill>
                <a:effectLst/>
                <a:latin typeface="+mn-lt"/>
                <a:ea typeface="+mn-ea"/>
                <a:cs typeface="+mn-cs"/>
              </a:rPr>
              <a:t>Exposure Assessment</a:t>
            </a:r>
            <a:r>
              <a:rPr lang="en-US" sz="1200" b="0" i="0" kern="1200" dirty="0">
                <a:solidFill>
                  <a:schemeClr val="tx1"/>
                </a:solidFill>
                <a:effectLst/>
                <a:latin typeface="+mn-lt"/>
                <a:ea typeface="+mn-ea"/>
                <a:cs typeface="+mn-cs"/>
              </a:rPr>
              <a:t> The primary exposure of interest is iron status, measured via serum ferritin concentrations at baseline (preconception). Serum ferritin was assessed using standardized immunoassays, with quality control procedures including re-testing of samples to ensure reliability. Serum ferritin is selected as the primary biomarker due to its clinical relevance and widespread use in assessing iron stores. Iron deficiency is commonly defined as serum ferritin &lt;15 µg/L by the World Health Organization (WHO), but recent literature suggests a cutoff of &lt;30 µg/L may improve sensitivity and specificity in both healthy and clinical populations. Ferritin levels are dichotomized at the &lt;30 µg/L threshold for analysis.</a:t>
            </a:r>
          </a:p>
          <a:p>
            <a:r>
              <a:rPr lang="en-US" sz="1200" b="1" i="0" kern="1200" dirty="0">
                <a:solidFill>
                  <a:schemeClr val="tx1"/>
                </a:solidFill>
                <a:effectLst/>
                <a:latin typeface="+mn-lt"/>
                <a:ea typeface="+mn-ea"/>
                <a:cs typeface="+mn-cs"/>
              </a:rPr>
              <a:t>Outcome Measurement</a:t>
            </a:r>
            <a:r>
              <a:rPr lang="en-US" sz="1200" b="0" i="0" kern="1200" dirty="0">
                <a:solidFill>
                  <a:schemeClr val="tx1"/>
                </a:solidFill>
                <a:effectLst/>
                <a:latin typeface="+mn-lt"/>
                <a:ea typeface="+mn-ea"/>
                <a:cs typeface="+mn-cs"/>
              </a:rPr>
              <a:t> The primary outcome is miscarriage, defined as a chemical or clinical loss of pregnancy.</a:t>
            </a:r>
          </a:p>
          <a:p>
            <a:r>
              <a:rPr lang="en-US" sz="1200" b="1" i="0" kern="1200" dirty="0">
                <a:solidFill>
                  <a:schemeClr val="tx1"/>
                </a:solidFill>
                <a:effectLst/>
                <a:latin typeface="+mn-lt"/>
                <a:ea typeface="+mn-ea"/>
                <a:cs typeface="+mn-cs"/>
              </a:rPr>
              <a:t>Covariates</a:t>
            </a:r>
            <a:r>
              <a:rPr lang="en-US" sz="1200" b="0" i="0" kern="1200" dirty="0">
                <a:solidFill>
                  <a:schemeClr val="tx1"/>
                </a:solidFill>
                <a:effectLst/>
                <a:latin typeface="+mn-lt"/>
                <a:ea typeface="+mn-ea"/>
                <a:cs typeface="+mn-cs"/>
              </a:rPr>
              <a:t> Potential confounders were identified through literature review and include: age, Body Mass Index (BMI), race/ethnicity, parity, household income, use of prenatal vitamins, physical activity, smoking status, and aspirin treatment assignment. These covariates are of interest because they may influence both iron status and miscarriage risk. (SKIP FOR NOW: Age is a well-established risk factor for miscarriage and may also affect iron stores. BMI can alter ferritin levels through inflammation and is linked to adverse reproductive outcomes. Race/ethnicity captures biological and social differences that influence diet, iron metabolism, and pregnancy outcomes. Parity reflects prior reproductive history, which can deplete iron stores and affect miscarriage risk. Household income serves as a proxy for socioeconomic status, influencing diet quality and access to care. Prenatal vitamin use is relevant because supplements often contain iron, potentially modifying ferritin levels. Physical activity may impact inflammation and iron metabolism, while extreme activity has been associated with miscarriage. Smoking is included due to its known association with adverse pregnancy outcomes and potential effects on nutrient absorption. Finally, aspirin treatment assignment is controlled for as part of the </a:t>
            </a:r>
            <a:r>
              <a:rPr lang="en-US" sz="1200" b="0" i="0" kern="1200" dirty="0" err="1">
                <a:solidFill>
                  <a:schemeClr val="tx1"/>
                </a:solidFill>
                <a:effectLst/>
                <a:latin typeface="+mn-lt"/>
                <a:ea typeface="+mn-ea"/>
                <a:cs typeface="+mn-cs"/>
              </a:rPr>
              <a:t>EAGeR</a:t>
            </a:r>
            <a:r>
              <a:rPr lang="en-US" sz="1200" b="0" i="0" kern="1200" dirty="0">
                <a:solidFill>
                  <a:schemeClr val="tx1"/>
                </a:solidFill>
                <a:effectLst/>
                <a:latin typeface="+mn-lt"/>
                <a:ea typeface="+mn-ea"/>
                <a:cs typeface="+mn-cs"/>
              </a:rPr>
              <a:t> trial design, given its possible influence on implantation and miscarriage risk.)</a:t>
            </a:r>
          </a:p>
          <a:p>
            <a:r>
              <a:rPr lang="en-US" sz="1200" b="1" i="0" kern="1200" dirty="0">
                <a:solidFill>
                  <a:schemeClr val="tx1"/>
                </a:solidFill>
                <a:effectLst/>
                <a:latin typeface="+mn-lt"/>
                <a:ea typeface="+mn-ea"/>
                <a:cs typeface="+mn-cs"/>
              </a:rPr>
              <a:t>Statistical Analysis</a:t>
            </a:r>
            <a:r>
              <a:rPr lang="en-US" sz="1200" b="0" i="0" kern="1200" dirty="0">
                <a:solidFill>
                  <a:schemeClr val="tx1"/>
                </a:solidFill>
                <a:effectLst/>
                <a:latin typeface="+mn-lt"/>
                <a:ea typeface="+mn-ea"/>
                <a:cs typeface="+mn-cs"/>
              </a:rPr>
              <a:t> Descriptive statistics summarize the distribution of serum ferritin and covariates. Two versions of Table 1 present baseline characteristics stratified by serum ferritin status (&lt;30 µg/L vs. ≥30 µg/L; &lt;15 µg/L vs. ≥15 µg/L). Risk ratios are estimated using a Poisson regression model with a log link and robust standard errors, implemented via the survey package (</a:t>
            </a:r>
            <a:r>
              <a:rPr lang="en-US" sz="1200" b="0" i="0" kern="1200" dirty="0" err="1">
                <a:solidFill>
                  <a:schemeClr val="tx1"/>
                </a:solidFill>
                <a:effectLst/>
                <a:latin typeface="+mn-lt"/>
                <a:ea typeface="+mn-ea"/>
                <a:cs typeface="+mn-cs"/>
              </a:rPr>
              <a:t>svyglm</a:t>
            </a:r>
            <a:r>
              <a:rPr lang="en-US" sz="1200" b="0" i="0" kern="1200" dirty="0">
                <a:solidFill>
                  <a:schemeClr val="tx1"/>
                </a:solidFill>
                <a:effectLst/>
                <a:latin typeface="+mn-lt"/>
                <a:ea typeface="+mn-ea"/>
                <a:cs typeface="+mn-cs"/>
              </a:rPr>
              <a:t>) in R. </a:t>
            </a:r>
            <a:r>
              <a:rPr lang="en-US" dirty="0"/>
              <a:t>This model is chosen because it provides a reliable way to estimate risk ratios directly for binary outcomes, avoiding convergence issues common in log-binomial models.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Initial models are unadjusted, followed by adjusted models incorporating identified covariates. Inverse probability weights were applied to account for selection into pregnancy. Sensitivity analyses explore the use of the WHO ferritin cutoff as an alternative metric for iron deficiency and stratifying by potential effect modifiers.</a:t>
            </a:r>
          </a:p>
          <a:p>
            <a:endParaRPr lang="en-US" dirty="0"/>
          </a:p>
        </p:txBody>
      </p:sp>
      <p:sp>
        <p:nvSpPr>
          <p:cNvPr id="4" name="Slide Number Placeholder 3"/>
          <p:cNvSpPr>
            <a:spLocks noGrp="1"/>
          </p:cNvSpPr>
          <p:nvPr>
            <p:ph type="sldNum" sz="quarter" idx="5"/>
          </p:nvPr>
        </p:nvSpPr>
        <p:spPr/>
        <p:txBody>
          <a:bodyPr/>
          <a:lstStyle/>
          <a:p>
            <a:fld id="{C21B84F5-EC2D-4AEA-A387-9D9481A99C38}" type="slidenum">
              <a:rPr lang="en-US" smtClean="0"/>
              <a:t>4</a:t>
            </a:fld>
            <a:endParaRPr lang="en-US"/>
          </a:p>
        </p:txBody>
      </p:sp>
    </p:spTree>
    <p:extLst>
      <p:ext uri="{BB962C8B-B14F-4D97-AF65-F5344CB8AC3E}">
        <p14:creationId xmlns:p14="http://schemas.microsoft.com/office/powerpoint/2010/main" val="377726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Among 1,228 participants, 982 had valid serum ferritin levels measured. serum ferritin levels varied across categories. Using the 30 µg/L cutoff, 294 women (29.9%) had ferritin &lt;30 µg/L and 688 (70.1%) had ferritin ≥30 µg/L. Women with ferritin &lt;30 µg/L were more likely to be parous (65% vs. 56%, p=0.013). Income also differed significantly (p=0.011), with a higher proportion of women in the &lt;30 µg/L group reporting income &lt;$40,000 (38% vs. 29%). Other characteristics, including age, BMI, race, prenatal vitamin use, exercise level, aspirin treatment assignment, and smoking status were similar across ferritin categories.</a:t>
            </a:r>
            <a:endParaRPr lang="en-US" dirty="0"/>
          </a:p>
        </p:txBody>
      </p:sp>
      <p:sp>
        <p:nvSpPr>
          <p:cNvPr id="4" name="Slide Number Placeholder 3"/>
          <p:cNvSpPr>
            <a:spLocks noGrp="1"/>
          </p:cNvSpPr>
          <p:nvPr>
            <p:ph type="sldNum" sz="quarter" idx="5"/>
          </p:nvPr>
        </p:nvSpPr>
        <p:spPr/>
        <p:txBody>
          <a:bodyPr/>
          <a:lstStyle/>
          <a:p>
            <a:fld id="{C21B84F5-EC2D-4AEA-A387-9D9481A99C38}" type="slidenum">
              <a:rPr lang="en-US" smtClean="0"/>
              <a:t>5</a:t>
            </a:fld>
            <a:endParaRPr lang="en-US"/>
          </a:p>
        </p:txBody>
      </p:sp>
    </p:spTree>
    <p:extLst>
      <p:ext uri="{BB962C8B-B14F-4D97-AF65-F5344CB8AC3E}">
        <p14:creationId xmlns:p14="http://schemas.microsoft.com/office/powerpoint/2010/main" val="207644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final project report, there is a second version of this table based on the WHO cutoff, but for sake of time, we will SKIP. ALSO WILL SKIP WHO CUTOFF SENSITIVITY ANALYSIS</a:t>
            </a:r>
          </a:p>
        </p:txBody>
      </p:sp>
      <p:sp>
        <p:nvSpPr>
          <p:cNvPr id="4" name="Slide Number Placeholder 3"/>
          <p:cNvSpPr>
            <a:spLocks noGrp="1"/>
          </p:cNvSpPr>
          <p:nvPr>
            <p:ph type="sldNum" sz="quarter" idx="5"/>
          </p:nvPr>
        </p:nvSpPr>
        <p:spPr/>
        <p:txBody>
          <a:bodyPr/>
          <a:lstStyle/>
          <a:p>
            <a:fld id="{C21B84F5-EC2D-4AEA-A387-9D9481A99C38}" type="slidenum">
              <a:rPr lang="en-US" smtClean="0"/>
              <a:t>6</a:t>
            </a:fld>
            <a:endParaRPr lang="en-US"/>
          </a:p>
        </p:txBody>
      </p:sp>
    </p:spTree>
    <p:extLst>
      <p:ext uri="{BB962C8B-B14F-4D97-AF65-F5344CB8AC3E}">
        <p14:creationId xmlns:p14="http://schemas.microsoft.com/office/powerpoint/2010/main" val="1225963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total, 157 pregnancy losses occurred among 637 women who had serum ferritin measured at baseline, conceived, and have non-missing covariate data. Using the 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cutoff, 125 cases occurred among women with ferritin ≥30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and 32 cases among those with ferritin &lt;30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In unadjusted analyses, women with ferritin &lt;30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had a lower risk of pregnancy loss compared to those with ferritin ≥30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(RR = 0.76; 95% CI: 0.46, 0.94). After adjustment for age, BMI, race, parity, income, smoking status, prenatal vitamin use, exercise level, and aspirin treatment assignment, the association remained similar (adjusted RR = 0.70; 95% CI: 0.49, 1.00).</a:t>
            </a:r>
            <a:endParaRPr lang="en-US" dirty="0"/>
          </a:p>
        </p:txBody>
      </p:sp>
      <p:sp>
        <p:nvSpPr>
          <p:cNvPr id="4" name="Slide Number Placeholder 3"/>
          <p:cNvSpPr>
            <a:spLocks noGrp="1"/>
          </p:cNvSpPr>
          <p:nvPr>
            <p:ph type="sldNum" sz="quarter" idx="5"/>
          </p:nvPr>
        </p:nvSpPr>
        <p:spPr/>
        <p:txBody>
          <a:bodyPr/>
          <a:lstStyle/>
          <a:p>
            <a:fld id="{C21B84F5-EC2D-4AEA-A387-9D9481A99C38}" type="slidenum">
              <a:rPr lang="en-US" smtClean="0"/>
              <a:t>7</a:t>
            </a:fld>
            <a:endParaRPr lang="en-US"/>
          </a:p>
        </p:txBody>
      </p:sp>
    </p:spTree>
    <p:extLst>
      <p:ext uri="{BB962C8B-B14F-4D97-AF65-F5344CB8AC3E}">
        <p14:creationId xmlns:p14="http://schemas.microsoft.com/office/powerpoint/2010/main" val="156096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Stratified analyses by parity using the 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cutoff revealed differing patterns. Among nulliparous women, pregnancy loss occurred in 17 women with ferritin &lt;30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and 53 women with ferritin ≥30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The adjusted risk ratio was 0.96 (95% CI: 0.58, 1.59), indicating no significant association. In contrast, among parous women, pregnancy loss occurred in 15 women with ferritin &lt;30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and 72 women with ferritin ≥30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Here, lower ferritin was associated with a significantly reduced risk of pregnancy loss (adjusted HR = 0.52; 95% CI: 0.32, 0.87). </a:t>
            </a:r>
            <a:endParaRPr lang="en-US" dirty="0"/>
          </a:p>
        </p:txBody>
      </p:sp>
      <p:sp>
        <p:nvSpPr>
          <p:cNvPr id="4" name="Slide Number Placeholder 3"/>
          <p:cNvSpPr>
            <a:spLocks noGrp="1"/>
          </p:cNvSpPr>
          <p:nvPr>
            <p:ph type="sldNum" sz="quarter" idx="5"/>
          </p:nvPr>
        </p:nvSpPr>
        <p:spPr/>
        <p:txBody>
          <a:bodyPr/>
          <a:lstStyle/>
          <a:p>
            <a:fld id="{C21B84F5-EC2D-4AEA-A387-9D9481A99C38}" type="slidenum">
              <a:rPr lang="en-US" smtClean="0"/>
              <a:t>8</a:t>
            </a:fld>
            <a:endParaRPr lang="en-US"/>
          </a:p>
        </p:txBody>
      </p:sp>
    </p:spTree>
    <p:extLst>
      <p:ext uri="{BB962C8B-B14F-4D97-AF65-F5344CB8AC3E}">
        <p14:creationId xmlns:p14="http://schemas.microsoft.com/office/powerpoint/2010/main" val="2224302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F2CC5-1697-B5FF-F746-6F1C68AFF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09BDF-622D-1AA6-2724-CA1D6B2B29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3B5B13-BD2D-DD40-3A45-D2BBA668ACE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Stratified analyses by BMI category using the 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cutoff also showed differing patterns. Among women with BMI &lt;25 kg/m², the adjusted risk ratio was 0.53 (95% CI: 0.32, 0.90). For BMI 25–30 kg/m², the adjusted risk ratio was 0.99 (95% CI: 0.50, 1.97), and for BMI &gt;30 kg/m², it was 0.76 (95% CI: 0.36, 1.64). Confidence intervals included 1 across all strata except for the BMI &lt;25 kg/m² group.</a:t>
            </a:r>
            <a:endParaRPr lang="en-US" dirty="0"/>
          </a:p>
        </p:txBody>
      </p:sp>
      <p:sp>
        <p:nvSpPr>
          <p:cNvPr id="4" name="Slide Number Placeholder 3">
            <a:extLst>
              <a:ext uri="{FF2B5EF4-FFF2-40B4-BE49-F238E27FC236}">
                <a16:creationId xmlns:a16="http://schemas.microsoft.com/office/drawing/2014/main" id="{28153134-B850-FB56-70BF-FCD3E84F2605}"/>
              </a:ext>
            </a:extLst>
          </p:cNvPr>
          <p:cNvSpPr>
            <a:spLocks noGrp="1"/>
          </p:cNvSpPr>
          <p:nvPr>
            <p:ph type="sldNum" sz="quarter" idx="5"/>
          </p:nvPr>
        </p:nvSpPr>
        <p:spPr/>
        <p:txBody>
          <a:bodyPr/>
          <a:lstStyle/>
          <a:p>
            <a:fld id="{C21B84F5-EC2D-4AEA-A387-9D9481A99C38}" type="slidenum">
              <a:rPr lang="en-US" smtClean="0"/>
              <a:t>9</a:t>
            </a:fld>
            <a:endParaRPr lang="en-US"/>
          </a:p>
        </p:txBody>
      </p:sp>
    </p:spTree>
    <p:extLst>
      <p:ext uri="{BB962C8B-B14F-4D97-AF65-F5344CB8AC3E}">
        <p14:creationId xmlns:p14="http://schemas.microsoft.com/office/powerpoint/2010/main" val="3883782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this study of women with prior pregnancy loss enrolled in the </a:t>
            </a:r>
            <a:r>
              <a:rPr lang="en-US" sz="1200" b="0" i="0" kern="1200" dirty="0" err="1">
                <a:solidFill>
                  <a:schemeClr val="tx1"/>
                </a:solidFill>
                <a:effectLst/>
                <a:latin typeface="+mn-lt"/>
                <a:ea typeface="+mn-ea"/>
                <a:cs typeface="+mn-cs"/>
              </a:rPr>
              <a:t>EAGeR</a:t>
            </a:r>
            <a:r>
              <a:rPr lang="en-US" sz="1200" b="0" i="0" kern="1200" dirty="0">
                <a:solidFill>
                  <a:schemeClr val="tx1"/>
                </a:solidFill>
                <a:effectLst/>
                <a:latin typeface="+mn-lt"/>
                <a:ea typeface="+mn-ea"/>
                <a:cs typeface="+mn-cs"/>
              </a:rPr>
              <a:t> trial, lower preconception serum ferritin levels (&lt;30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were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associated with an increased risk of miscarriage; in fact, point estimates suggested a modest protective effect, though confidence intervals in the adjusted models were close to the null, indicating uncertainty about the association. Sensitivity analyses using a 15 </a:t>
            </a:r>
            <a:r>
              <a:rPr lang="en-US" sz="1200" b="0" i="0" kern="1200" dirty="0" err="1">
                <a:solidFill>
                  <a:schemeClr val="tx1"/>
                </a:solidFill>
                <a:effectLst/>
                <a:latin typeface="+mn-lt"/>
                <a:ea typeface="+mn-ea"/>
                <a:cs typeface="+mn-cs"/>
              </a:rPr>
              <a:t>μg</a:t>
            </a:r>
            <a:r>
              <a:rPr lang="en-US" sz="1200" b="0" i="0" kern="1200" dirty="0">
                <a:solidFill>
                  <a:schemeClr val="tx1"/>
                </a:solidFill>
                <a:effectLst/>
                <a:latin typeface="+mn-lt"/>
                <a:ea typeface="+mn-ea"/>
                <a:cs typeface="+mn-cs"/>
              </a:rPr>
              <a:t>/L cutoff and stratification by parity and BMI revealed potential effect modification: the inverse association was strongest among parous women and those with BMI &lt;25 kg/m². However, these findings should be interpreted cautiously given limited sample sizes and residual confounding. Overall, these results do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support the hypothesis that low preconception ferritin increases miscarriage risk in this population. Future research should explore biological mechanisms underlying these patterns and assess whether iron supplementation strategies should be tailored by parity or BMI.</a:t>
            </a:r>
            <a:endParaRPr lang="en-US" dirty="0"/>
          </a:p>
        </p:txBody>
      </p:sp>
      <p:sp>
        <p:nvSpPr>
          <p:cNvPr id="4" name="Slide Number Placeholder 3"/>
          <p:cNvSpPr>
            <a:spLocks noGrp="1"/>
          </p:cNvSpPr>
          <p:nvPr>
            <p:ph type="sldNum" sz="quarter" idx="5"/>
          </p:nvPr>
        </p:nvSpPr>
        <p:spPr/>
        <p:txBody>
          <a:bodyPr/>
          <a:lstStyle/>
          <a:p>
            <a:fld id="{C21B84F5-EC2D-4AEA-A387-9D9481A99C38}" type="slidenum">
              <a:rPr lang="en-US" smtClean="0"/>
              <a:t>10</a:t>
            </a:fld>
            <a:endParaRPr lang="en-US"/>
          </a:p>
        </p:txBody>
      </p:sp>
    </p:spTree>
    <p:extLst>
      <p:ext uri="{BB962C8B-B14F-4D97-AF65-F5344CB8AC3E}">
        <p14:creationId xmlns:p14="http://schemas.microsoft.com/office/powerpoint/2010/main" val="3620089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US" sz="4200" dirty="0">
                <a:solidFill>
                  <a:srgbClr val="FFFFFF"/>
                </a:solidFill>
              </a:rPr>
              <a:t>Relationship Between Preconception Iron Biomarkers and Pregnancy Loss</a:t>
            </a:r>
          </a:p>
        </p:txBody>
      </p:sp>
      <p:sp>
        <p:nvSpPr>
          <p:cNvPr id="3" name="Subtitle 2"/>
          <p:cNvSpPr>
            <a:spLocks noGrp="1"/>
          </p:cNvSpPr>
          <p:nvPr>
            <p:ph type="subTitle" idx="1"/>
          </p:nvPr>
        </p:nvSpPr>
        <p:spPr>
          <a:xfrm>
            <a:off x="1013011" y="4870824"/>
            <a:ext cx="7504463" cy="1458258"/>
          </a:xfrm>
        </p:spPr>
        <p:txBody>
          <a:bodyPr anchor="ctr">
            <a:normAutofit/>
          </a:bodyPr>
          <a:lstStyle/>
          <a:p>
            <a:pPr algn="l"/>
            <a:r>
              <a:rPr dirty="0"/>
              <a:t>Sarah Rothbard</a:t>
            </a:r>
            <a:r>
              <a:rPr lang="en-US" dirty="0"/>
              <a:t>, MS</a:t>
            </a:r>
          </a:p>
          <a:p>
            <a:pPr algn="l"/>
            <a:r>
              <a:rPr dirty="0"/>
              <a:t>BMIN503/EPID600 Final Project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Overview</a:t>
            </a:r>
          </a:p>
        </p:txBody>
      </p:sp>
      <p:sp>
        <p:nvSpPr>
          <p:cNvPr id="3" name="Content Placeholder 2"/>
          <p:cNvSpPr>
            <a:spLocks noGrp="1"/>
          </p:cNvSpPr>
          <p:nvPr>
            <p:ph idx="1"/>
          </p:nvPr>
        </p:nvSpPr>
        <p:spPr>
          <a:xfrm>
            <a:off x="1028699" y="2072728"/>
            <a:ext cx="7293023" cy="3055155"/>
          </a:xfrm>
        </p:spPr>
        <p:txBody>
          <a:bodyPr anchor="ctr">
            <a:normAutofit/>
          </a:bodyPr>
          <a:lstStyle/>
          <a:p>
            <a:endParaRPr lang="en-US" sz="1700" dirty="0"/>
          </a:p>
          <a:p>
            <a:pPr>
              <a:defRPr sz="1800"/>
            </a:pPr>
            <a:r>
              <a:rPr lang="en-US" sz="2400" dirty="0"/>
              <a:t>Goal: Investigate relationship between preconception iron biomarkers and miscarriage risk</a:t>
            </a:r>
          </a:p>
          <a:p>
            <a:pPr>
              <a:defRPr sz="1800"/>
            </a:pPr>
            <a:r>
              <a:rPr lang="en-US" sz="2400" dirty="0"/>
              <a:t>Population: Women with prior pregnancy loss</a:t>
            </a:r>
          </a:p>
          <a:p>
            <a:pPr>
              <a:defRPr sz="1800"/>
            </a:pPr>
            <a:r>
              <a:rPr lang="en-US" sz="2400" dirty="0"/>
              <a:t>Data Source: Effects of Aspirin in Gestation and Reproduction (</a:t>
            </a:r>
            <a:r>
              <a:rPr lang="en-US" sz="2400" dirty="0" err="1"/>
              <a:t>EAGeR</a:t>
            </a:r>
            <a:r>
              <a:rPr lang="en-US" sz="2400" dirty="0"/>
              <a:t>) trial</a:t>
            </a:r>
          </a:p>
          <a:p>
            <a:pPr>
              <a:defRPr sz="1800"/>
            </a:pPr>
            <a:r>
              <a:rPr lang="en-US" sz="2400" dirty="0"/>
              <a:t>Key biomarker: Serum ferritin</a:t>
            </a:r>
          </a:p>
        </p:txBody>
      </p:sp>
      <p:sp>
        <p:nvSpPr>
          <p:cNvPr id="4" name="TextBox 3">
            <a:extLst>
              <a:ext uri="{FF2B5EF4-FFF2-40B4-BE49-F238E27FC236}">
                <a16:creationId xmlns:a16="http://schemas.microsoft.com/office/drawing/2014/main" id="{30B70846-67CC-6DFC-9849-BE98ADC4E3F2}"/>
              </a:ext>
            </a:extLst>
          </p:cNvPr>
          <p:cNvSpPr txBox="1"/>
          <p:nvPr/>
        </p:nvSpPr>
        <p:spPr>
          <a:xfrm>
            <a:off x="717756" y="5603179"/>
            <a:ext cx="8725964" cy="461665"/>
          </a:xfrm>
          <a:prstGeom prst="rect">
            <a:avLst/>
          </a:prstGeom>
          <a:noFill/>
        </p:spPr>
        <p:txBody>
          <a:bodyPr wrap="square" rtlCol="0">
            <a:spAutoFit/>
          </a:bodyPr>
          <a:lstStyle/>
          <a:p>
            <a:r>
              <a:rPr lang="en-US" sz="2400" dirty="0"/>
              <a:t>Thank you to Sunni Mumford and Ellen Caniglia for guidance!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Introduction</a:t>
            </a:r>
          </a:p>
        </p:txBody>
      </p:sp>
      <p:graphicFrame>
        <p:nvGraphicFramePr>
          <p:cNvPr id="5" name="Content Placeholder 2">
            <a:extLst>
              <a:ext uri="{FF2B5EF4-FFF2-40B4-BE49-F238E27FC236}">
                <a16:creationId xmlns:a16="http://schemas.microsoft.com/office/drawing/2014/main" id="{165E145E-8231-7221-3AA0-72B94684A278}"/>
              </a:ext>
            </a:extLst>
          </p:cNvPr>
          <p:cNvGraphicFramePr>
            <a:graphicFrameLocks noGrp="1"/>
          </p:cNvGraphicFramePr>
          <p:nvPr>
            <p:ph idx="1"/>
            <p:extLst>
              <p:ext uri="{D42A27DB-BD31-4B8C-83A1-F6EECF244321}">
                <p14:modId xmlns:p14="http://schemas.microsoft.com/office/powerpoint/2010/main" val="3196333438"/>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Methods</a:t>
            </a:r>
          </a:p>
        </p:txBody>
      </p:sp>
      <p:graphicFrame>
        <p:nvGraphicFramePr>
          <p:cNvPr id="21" name="Content Placeholder 2">
            <a:extLst>
              <a:ext uri="{FF2B5EF4-FFF2-40B4-BE49-F238E27FC236}">
                <a16:creationId xmlns:a16="http://schemas.microsoft.com/office/drawing/2014/main" id="{98257FC0-85C4-37B8-8489-1323D1952873}"/>
              </a:ext>
            </a:extLst>
          </p:cNvPr>
          <p:cNvGraphicFramePr>
            <a:graphicFrameLocks noGrp="1"/>
          </p:cNvGraphicFramePr>
          <p:nvPr>
            <p:ph idx="1"/>
            <p:extLst>
              <p:ext uri="{D42A27DB-BD31-4B8C-83A1-F6EECF244321}">
                <p14:modId xmlns:p14="http://schemas.microsoft.com/office/powerpoint/2010/main" val="2682050097"/>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dirty="0">
                <a:solidFill>
                  <a:srgbClr val="FFFFFF"/>
                </a:solidFill>
                <a:latin typeface="+mj-lt"/>
                <a:ea typeface="+mj-ea"/>
                <a:cs typeface="+mj-cs"/>
              </a:rPr>
              <a:t>Results – Baseline Characteristics</a:t>
            </a:r>
          </a:p>
        </p:txBody>
      </p:sp>
      <p:graphicFrame>
        <p:nvGraphicFramePr>
          <p:cNvPr id="4" name="Table 3">
            <a:extLst>
              <a:ext uri="{FF2B5EF4-FFF2-40B4-BE49-F238E27FC236}">
                <a16:creationId xmlns:a16="http://schemas.microsoft.com/office/drawing/2014/main" id="{7FE9D389-08C1-8F5E-BC05-77DED202B898}"/>
              </a:ext>
            </a:extLst>
          </p:cNvPr>
          <p:cNvGraphicFramePr>
            <a:graphicFrameLocks noGrp="1"/>
          </p:cNvGraphicFramePr>
          <p:nvPr>
            <p:extLst>
              <p:ext uri="{D42A27DB-BD31-4B8C-83A1-F6EECF244321}">
                <p14:modId xmlns:p14="http://schemas.microsoft.com/office/powerpoint/2010/main" val="3324105688"/>
              </p:ext>
            </p:extLst>
          </p:nvPr>
        </p:nvGraphicFramePr>
        <p:xfrm>
          <a:off x="262389" y="1645017"/>
          <a:ext cx="8619217" cy="5141124"/>
        </p:xfrm>
        <a:graphic>
          <a:graphicData uri="http://schemas.openxmlformats.org/drawingml/2006/table">
            <a:tbl>
              <a:tblPr firstRow="1" bandRow="1">
                <a:tableStyleId>{5C22544A-7EE6-4342-B048-85BDC9FD1C3A}</a:tableStyleId>
              </a:tblPr>
              <a:tblGrid>
                <a:gridCol w="2444373">
                  <a:extLst>
                    <a:ext uri="{9D8B030D-6E8A-4147-A177-3AD203B41FA5}">
                      <a16:colId xmlns:a16="http://schemas.microsoft.com/office/drawing/2014/main" val="4064446919"/>
                    </a:ext>
                  </a:extLst>
                </a:gridCol>
                <a:gridCol w="2463849">
                  <a:extLst>
                    <a:ext uri="{9D8B030D-6E8A-4147-A177-3AD203B41FA5}">
                      <a16:colId xmlns:a16="http://schemas.microsoft.com/office/drawing/2014/main" val="4124767500"/>
                    </a:ext>
                  </a:extLst>
                </a:gridCol>
                <a:gridCol w="2463849">
                  <a:extLst>
                    <a:ext uri="{9D8B030D-6E8A-4147-A177-3AD203B41FA5}">
                      <a16:colId xmlns:a16="http://schemas.microsoft.com/office/drawing/2014/main" val="2639701088"/>
                    </a:ext>
                  </a:extLst>
                </a:gridCol>
                <a:gridCol w="1247146">
                  <a:extLst>
                    <a:ext uri="{9D8B030D-6E8A-4147-A177-3AD203B41FA5}">
                      <a16:colId xmlns:a16="http://schemas.microsoft.com/office/drawing/2014/main" val="2345355233"/>
                    </a:ext>
                  </a:extLst>
                </a:gridCol>
              </a:tblGrid>
              <a:tr h="285618">
                <a:tc>
                  <a:txBody>
                    <a:bodyPr/>
                    <a:lstStyle/>
                    <a:p>
                      <a:pPr marL="0" marR="0">
                        <a:spcAft>
                          <a:spcPts val="300"/>
                        </a:spcAft>
                        <a:buNone/>
                      </a:pPr>
                      <a:r>
                        <a:rPr lang="en-US" sz="1600" dirty="0">
                          <a:effectLst/>
                        </a:rPr>
                        <a:t>Characteristic</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1: &lt;30 microgram/L N = 294</a:t>
                      </a:r>
                      <a:r>
                        <a:rPr lang="en-US" sz="1600" baseline="30000" dirty="0">
                          <a:effectLst/>
                        </a:rPr>
                        <a:t>1</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2: ≥30 microgram/L N = 688</a:t>
                      </a:r>
                      <a:r>
                        <a:rPr lang="en-US" sz="1600" baseline="30000" dirty="0">
                          <a:effectLst/>
                        </a:rPr>
                        <a:t>1</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p-value</a:t>
                      </a:r>
                      <a:r>
                        <a:rPr lang="en-US" sz="1600" baseline="30000" dirty="0">
                          <a:effectLst/>
                        </a:rPr>
                        <a:t>2</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3029806463"/>
                  </a:ext>
                </a:extLst>
              </a:tr>
              <a:tr h="285618">
                <a:tc>
                  <a:txBody>
                    <a:bodyPr/>
                    <a:lstStyle/>
                    <a:p>
                      <a:pPr marL="0" marR="0">
                        <a:spcAft>
                          <a:spcPts val="300"/>
                        </a:spcAft>
                        <a:buNone/>
                      </a:pPr>
                      <a:r>
                        <a:rPr lang="en-US" sz="1600">
                          <a:effectLst/>
                        </a:rPr>
                        <a:t>Age (years)</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28.0 (24.8, 31.5)</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28.5 (25.5, 31.9)</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0.13</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925390246"/>
                  </a:ext>
                </a:extLst>
              </a:tr>
              <a:tr h="285618">
                <a:tc>
                  <a:txBody>
                    <a:bodyPr/>
                    <a:lstStyle/>
                    <a:p>
                      <a:pPr marL="0" marR="0">
                        <a:spcAft>
                          <a:spcPts val="300"/>
                        </a:spcAft>
                        <a:buNone/>
                      </a:pPr>
                      <a:r>
                        <a:rPr lang="en-US" sz="1600">
                          <a:effectLst/>
                        </a:rPr>
                        <a:t>BMI category</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0.9</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1901978245"/>
                  </a:ext>
                </a:extLst>
              </a:tr>
              <a:tr h="285618">
                <a:tc>
                  <a:txBody>
                    <a:bodyPr/>
                    <a:lstStyle/>
                    <a:p>
                      <a:pPr marL="0" marR="0">
                        <a:spcAft>
                          <a:spcPts val="300"/>
                        </a:spcAft>
                        <a:buNone/>
                      </a:pPr>
                      <a:r>
                        <a:rPr lang="en-US" sz="1600">
                          <a:effectLst/>
                        </a:rPr>
                        <a:t>    1: &lt;25</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150 (52%)</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364 (54%)</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 </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882914468"/>
                  </a:ext>
                </a:extLst>
              </a:tr>
              <a:tr h="285618">
                <a:tc>
                  <a:txBody>
                    <a:bodyPr/>
                    <a:lstStyle/>
                    <a:p>
                      <a:pPr marL="0" marR="0">
                        <a:spcAft>
                          <a:spcPts val="300"/>
                        </a:spcAft>
                        <a:buNone/>
                      </a:pPr>
                      <a:r>
                        <a:rPr lang="en-US" sz="1600">
                          <a:effectLst/>
                        </a:rPr>
                        <a:t>    2: 25–30</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72 (25%)</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159 (23%)</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1425381487"/>
                  </a:ext>
                </a:extLst>
              </a:tr>
              <a:tr h="285618">
                <a:tc>
                  <a:txBody>
                    <a:bodyPr/>
                    <a:lstStyle/>
                    <a:p>
                      <a:pPr marL="0" marR="0">
                        <a:spcAft>
                          <a:spcPts val="300"/>
                        </a:spcAft>
                        <a:buNone/>
                      </a:pPr>
                      <a:r>
                        <a:rPr lang="en-US" sz="1600">
                          <a:effectLst/>
                        </a:rPr>
                        <a:t>    3: &gt;30</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65 (23%)</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157 (23%)</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 </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1298558321"/>
                  </a:ext>
                </a:extLst>
              </a:tr>
              <a:tr h="285618">
                <a:tc>
                  <a:txBody>
                    <a:bodyPr/>
                    <a:lstStyle/>
                    <a:p>
                      <a:pPr marL="0" marR="0">
                        <a:spcAft>
                          <a:spcPts val="300"/>
                        </a:spcAft>
                        <a:buNone/>
                      </a:pPr>
                      <a:r>
                        <a:rPr lang="en-US" sz="1600" dirty="0">
                          <a:effectLst/>
                        </a:rPr>
                        <a:t>Race</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0.2</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3147625707"/>
                  </a:ext>
                </a:extLst>
              </a:tr>
              <a:tr h="285618">
                <a:tc>
                  <a:txBody>
                    <a:bodyPr/>
                    <a:lstStyle/>
                    <a:p>
                      <a:pPr marL="0" marR="0">
                        <a:spcAft>
                          <a:spcPts val="300"/>
                        </a:spcAft>
                        <a:buNone/>
                      </a:pPr>
                      <a:r>
                        <a:rPr lang="en-US" sz="1600">
                          <a:effectLst/>
                        </a:rPr>
                        <a:t>    Non-white</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21 (7.1%)</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34 (4.9%)</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 </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1977456131"/>
                  </a:ext>
                </a:extLst>
              </a:tr>
              <a:tr h="285618">
                <a:tc>
                  <a:txBody>
                    <a:bodyPr/>
                    <a:lstStyle/>
                    <a:p>
                      <a:pPr marL="0" marR="0">
                        <a:spcAft>
                          <a:spcPts val="300"/>
                        </a:spcAft>
                        <a:buNone/>
                      </a:pPr>
                      <a:r>
                        <a:rPr lang="en-US" sz="1600">
                          <a:effectLst/>
                        </a:rPr>
                        <a:t>    White</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273 (93%)</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654 (95%)</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2682586689"/>
                  </a:ext>
                </a:extLst>
              </a:tr>
              <a:tr h="285618">
                <a:tc>
                  <a:txBody>
                    <a:bodyPr/>
                    <a:lstStyle/>
                    <a:p>
                      <a:pPr marL="0" marR="0">
                        <a:spcAft>
                          <a:spcPts val="300"/>
                        </a:spcAft>
                        <a:buNone/>
                      </a:pPr>
                      <a:r>
                        <a:rPr lang="en-US" sz="1600">
                          <a:effectLst/>
                        </a:rPr>
                        <a:t>Parity</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0.013</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428992098"/>
                  </a:ext>
                </a:extLst>
              </a:tr>
              <a:tr h="285618">
                <a:tc>
                  <a:txBody>
                    <a:bodyPr/>
                    <a:lstStyle/>
                    <a:p>
                      <a:pPr marL="0" marR="0">
                        <a:spcAft>
                          <a:spcPts val="300"/>
                        </a:spcAft>
                        <a:buNone/>
                      </a:pPr>
                      <a:r>
                        <a:rPr lang="en-US" sz="1600">
                          <a:effectLst/>
                        </a:rPr>
                        <a:t>    0: Nulliparous</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104 (35%)</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302 (44%)</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550202237"/>
                  </a:ext>
                </a:extLst>
              </a:tr>
              <a:tr h="285618">
                <a:tc>
                  <a:txBody>
                    <a:bodyPr/>
                    <a:lstStyle/>
                    <a:p>
                      <a:pPr marL="0" marR="0">
                        <a:spcAft>
                          <a:spcPts val="300"/>
                        </a:spcAft>
                        <a:buNone/>
                      </a:pPr>
                      <a:r>
                        <a:rPr lang="en-US" sz="1600">
                          <a:effectLst/>
                        </a:rPr>
                        <a:t>    1: Parous</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190 (65%)</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386 (56%)</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3699301093"/>
                  </a:ext>
                </a:extLst>
              </a:tr>
              <a:tr h="285618">
                <a:tc>
                  <a:txBody>
                    <a:bodyPr/>
                    <a:lstStyle/>
                    <a:p>
                      <a:pPr marL="0" marR="0">
                        <a:spcAft>
                          <a:spcPts val="300"/>
                        </a:spcAft>
                        <a:buNone/>
                      </a:pPr>
                      <a:r>
                        <a:rPr lang="en-US" sz="1600">
                          <a:effectLst/>
                        </a:rPr>
                        <a:t>Income category</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 </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0.011</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3706678992"/>
                  </a:ext>
                </a:extLst>
              </a:tr>
              <a:tr h="285618">
                <a:tc>
                  <a:txBody>
                    <a:bodyPr/>
                    <a:lstStyle/>
                    <a:p>
                      <a:pPr marL="0" marR="0">
                        <a:spcAft>
                          <a:spcPts val="300"/>
                        </a:spcAft>
                        <a:buNone/>
                      </a:pPr>
                      <a:r>
                        <a:rPr lang="en-US" sz="1600">
                          <a:effectLst/>
                        </a:rPr>
                        <a:t>    1: &lt;$40,000</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112 (38%)</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200 (29%)</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1425932348"/>
                  </a:ext>
                </a:extLst>
              </a:tr>
              <a:tr h="285618">
                <a:tc>
                  <a:txBody>
                    <a:bodyPr/>
                    <a:lstStyle/>
                    <a:p>
                      <a:pPr marL="0" marR="0">
                        <a:spcAft>
                          <a:spcPts val="300"/>
                        </a:spcAft>
                        <a:buNone/>
                      </a:pPr>
                      <a:r>
                        <a:rPr lang="en-US" sz="1600">
                          <a:effectLst/>
                        </a:rPr>
                        <a:t>    2: $40,000–$99,999</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66 (23%)</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200 (29%)</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726658360"/>
                  </a:ext>
                </a:extLst>
              </a:tr>
              <a:tr h="285618">
                <a:tc>
                  <a:txBody>
                    <a:bodyPr/>
                    <a:lstStyle/>
                    <a:p>
                      <a:pPr marL="0" marR="0">
                        <a:spcAft>
                          <a:spcPts val="300"/>
                        </a:spcAft>
                        <a:buNone/>
                      </a:pPr>
                      <a:r>
                        <a:rPr lang="en-US" sz="1600">
                          <a:effectLst/>
                        </a:rPr>
                        <a:t>    3: ≥$100,000</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115 (39%)</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dirty="0">
                          <a:effectLst/>
                        </a:rPr>
                        <a:t>288 (42%)</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extLst>
                  <a:ext uri="{0D108BD9-81ED-4DB2-BD59-A6C34878D82A}">
                    <a16:rowId xmlns:a16="http://schemas.microsoft.com/office/drawing/2014/main" val="3029591228"/>
                  </a:ext>
                </a:extLst>
              </a:tr>
              <a:tr h="285618">
                <a:tc gridSpan="4">
                  <a:txBody>
                    <a:bodyPr/>
                    <a:lstStyle/>
                    <a:p>
                      <a:pPr marL="0" marR="0">
                        <a:spcAft>
                          <a:spcPts val="300"/>
                        </a:spcAft>
                        <a:buNone/>
                      </a:pPr>
                      <a:r>
                        <a:rPr lang="en-US" sz="1600" baseline="30000" dirty="0">
                          <a:effectLst/>
                        </a:rPr>
                        <a:t>1</a:t>
                      </a:r>
                      <a:r>
                        <a:rPr lang="en-US" sz="1600" dirty="0">
                          <a:effectLst/>
                        </a:rPr>
                        <a:t>Median (Q1, Q3); n (%)</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28092042"/>
                  </a:ext>
                </a:extLst>
              </a:tr>
              <a:tr h="285618">
                <a:tc gridSpan="4">
                  <a:txBody>
                    <a:bodyPr/>
                    <a:lstStyle/>
                    <a:p>
                      <a:pPr marL="0" marR="0">
                        <a:spcAft>
                          <a:spcPts val="300"/>
                        </a:spcAft>
                        <a:buNone/>
                      </a:pPr>
                      <a:r>
                        <a:rPr lang="en-US" sz="1600" baseline="30000" dirty="0">
                          <a:effectLst/>
                        </a:rPr>
                        <a:t>2</a:t>
                      </a:r>
                      <a:r>
                        <a:rPr lang="en-US" sz="1600" dirty="0">
                          <a:effectLst/>
                        </a:rPr>
                        <a:t>Wilcoxon rank sum test; Pearson's Chi-squared test</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5038" marR="15038"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00757096"/>
                  </a:ext>
                </a:extLst>
              </a:tr>
            </a:tbl>
          </a:graphicData>
        </a:graphic>
      </p:graphicFrame>
      <p:sp>
        <p:nvSpPr>
          <p:cNvPr id="6" name="Rectangle 5">
            <a:extLst>
              <a:ext uri="{FF2B5EF4-FFF2-40B4-BE49-F238E27FC236}">
                <a16:creationId xmlns:a16="http://schemas.microsoft.com/office/drawing/2014/main" id="{79396B33-4B65-607E-8638-E7D9226C930A}"/>
              </a:ext>
            </a:extLst>
          </p:cNvPr>
          <p:cNvSpPr/>
          <p:nvPr/>
        </p:nvSpPr>
        <p:spPr>
          <a:xfrm>
            <a:off x="3156155" y="4807974"/>
            <a:ext cx="4129548" cy="216310"/>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4A3391D-8553-D240-4B8B-54EFEFD03EF5}"/>
              </a:ext>
            </a:extLst>
          </p:cNvPr>
          <p:cNvSpPr/>
          <p:nvPr/>
        </p:nvSpPr>
        <p:spPr>
          <a:xfrm>
            <a:off x="3173679" y="5353665"/>
            <a:ext cx="4129548" cy="216310"/>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3CA2CF-E481-BCB7-C431-5199D502A68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0BC936-0C63-1B5B-3867-4FF287D170EA}"/>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dirty="0">
                <a:solidFill>
                  <a:srgbClr val="FFFFFF"/>
                </a:solidFill>
                <a:latin typeface="+mj-lt"/>
                <a:ea typeface="+mj-ea"/>
                <a:cs typeface="+mj-cs"/>
              </a:rPr>
              <a:t>Results – Baseline Characteristics</a:t>
            </a:r>
          </a:p>
        </p:txBody>
      </p:sp>
      <p:graphicFrame>
        <p:nvGraphicFramePr>
          <p:cNvPr id="4" name="Table 3">
            <a:extLst>
              <a:ext uri="{FF2B5EF4-FFF2-40B4-BE49-F238E27FC236}">
                <a16:creationId xmlns:a16="http://schemas.microsoft.com/office/drawing/2014/main" id="{984A6A92-5912-30BB-F4B3-8F212D80E308}"/>
              </a:ext>
            </a:extLst>
          </p:cNvPr>
          <p:cNvGraphicFramePr>
            <a:graphicFrameLocks noGrp="1"/>
          </p:cNvGraphicFramePr>
          <p:nvPr>
            <p:extLst>
              <p:ext uri="{D42A27DB-BD31-4B8C-83A1-F6EECF244321}">
                <p14:modId xmlns:p14="http://schemas.microsoft.com/office/powerpoint/2010/main" val="779629970"/>
              </p:ext>
            </p:extLst>
          </p:nvPr>
        </p:nvGraphicFramePr>
        <p:xfrm>
          <a:off x="226142" y="1655276"/>
          <a:ext cx="8770374" cy="5079821"/>
        </p:xfrm>
        <a:graphic>
          <a:graphicData uri="http://schemas.openxmlformats.org/drawingml/2006/table">
            <a:tbl>
              <a:tblPr firstRow="1" bandRow="1">
                <a:tableStyleId>{5C22544A-7EE6-4342-B048-85BDC9FD1C3A}</a:tableStyleId>
              </a:tblPr>
              <a:tblGrid>
                <a:gridCol w="2381754">
                  <a:extLst>
                    <a:ext uri="{9D8B030D-6E8A-4147-A177-3AD203B41FA5}">
                      <a16:colId xmlns:a16="http://schemas.microsoft.com/office/drawing/2014/main" val="4064446919"/>
                    </a:ext>
                  </a:extLst>
                </a:gridCol>
                <a:gridCol w="2716347">
                  <a:extLst>
                    <a:ext uri="{9D8B030D-6E8A-4147-A177-3AD203B41FA5}">
                      <a16:colId xmlns:a16="http://schemas.microsoft.com/office/drawing/2014/main" val="4124767500"/>
                    </a:ext>
                  </a:extLst>
                </a:gridCol>
                <a:gridCol w="2716347">
                  <a:extLst>
                    <a:ext uri="{9D8B030D-6E8A-4147-A177-3AD203B41FA5}">
                      <a16:colId xmlns:a16="http://schemas.microsoft.com/office/drawing/2014/main" val="2639701088"/>
                    </a:ext>
                  </a:extLst>
                </a:gridCol>
                <a:gridCol w="955926">
                  <a:extLst>
                    <a:ext uri="{9D8B030D-6E8A-4147-A177-3AD203B41FA5}">
                      <a16:colId xmlns:a16="http://schemas.microsoft.com/office/drawing/2014/main" val="2345355233"/>
                    </a:ext>
                  </a:extLst>
                </a:gridCol>
              </a:tblGrid>
              <a:tr h="298813">
                <a:tc>
                  <a:txBody>
                    <a:bodyPr/>
                    <a:lstStyle/>
                    <a:p>
                      <a:pPr marL="0" marR="0">
                        <a:spcAft>
                          <a:spcPts val="300"/>
                        </a:spcAft>
                        <a:buNone/>
                      </a:pPr>
                      <a:r>
                        <a:rPr lang="en-US" sz="1600">
                          <a:effectLst/>
                        </a:rPr>
                        <a:t>Characteristic</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1: &lt;30 microgram/L N = 294</a:t>
                      </a:r>
                      <a:r>
                        <a:rPr lang="en-US" sz="1600" baseline="30000">
                          <a:effectLst/>
                        </a:rPr>
                        <a:t>1</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2: ≥30 microgram/L N = 688</a:t>
                      </a:r>
                      <a:r>
                        <a:rPr lang="en-US" sz="1600" baseline="30000">
                          <a:effectLst/>
                        </a:rPr>
                        <a:t>1</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p-value</a:t>
                      </a:r>
                      <a:r>
                        <a:rPr lang="en-US" sz="1600" baseline="30000">
                          <a:effectLst/>
                        </a:rPr>
                        <a:t>2</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3029806463"/>
                  </a:ext>
                </a:extLst>
              </a:tr>
              <a:tr h="298813">
                <a:tc>
                  <a:txBody>
                    <a:bodyPr/>
                    <a:lstStyle/>
                    <a:p>
                      <a:pPr marL="0" marR="0">
                        <a:spcAft>
                          <a:spcPts val="300"/>
                        </a:spcAft>
                        <a:buNone/>
                      </a:pPr>
                      <a:r>
                        <a:rPr lang="en-US" sz="1600" dirty="0">
                          <a:effectLst/>
                        </a:rPr>
                        <a:t>Prenatal Vitamin Use</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dirty="0">
                          <a:effectLst/>
                        </a:rPr>
                        <a:t>0.7</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1601411536"/>
                  </a:ext>
                </a:extLst>
              </a:tr>
              <a:tr h="298813">
                <a:tc>
                  <a:txBody>
                    <a:bodyPr/>
                    <a:lstStyle/>
                    <a:p>
                      <a:pPr marL="0" marR="0">
                        <a:spcAft>
                          <a:spcPts val="300"/>
                        </a:spcAft>
                        <a:buNone/>
                      </a:pPr>
                      <a:r>
                        <a:rPr lang="en-US" sz="1600">
                          <a:effectLst/>
                        </a:rPr>
                        <a:t>    No folic - no vitamins</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20 (6.9%)</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50 (7.4%)</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2726853584"/>
                  </a:ext>
                </a:extLst>
              </a:tr>
              <a:tr h="298813">
                <a:tc>
                  <a:txBody>
                    <a:bodyPr/>
                    <a:lstStyle/>
                    <a:p>
                      <a:pPr marL="0" marR="0">
                        <a:spcAft>
                          <a:spcPts val="300"/>
                        </a:spcAft>
                        <a:buNone/>
                      </a:pPr>
                      <a:r>
                        <a:rPr lang="en-US" sz="1600">
                          <a:effectLst/>
                        </a:rPr>
                        <a:t>    No folic - take vitamins</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29 (10%)</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79 (12%)</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1024475443"/>
                  </a:ext>
                </a:extLst>
              </a:tr>
              <a:tr h="298813">
                <a:tc>
                  <a:txBody>
                    <a:bodyPr/>
                    <a:lstStyle/>
                    <a:p>
                      <a:pPr marL="0" marR="0">
                        <a:spcAft>
                          <a:spcPts val="300"/>
                        </a:spcAft>
                        <a:buNone/>
                      </a:pPr>
                      <a:r>
                        <a:rPr lang="en-US" sz="1600">
                          <a:effectLst/>
                        </a:rPr>
                        <a:t>    YES</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241 (83%)</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549 (81%)</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3477154359"/>
                  </a:ext>
                </a:extLst>
              </a:tr>
              <a:tr h="298813">
                <a:tc>
                  <a:txBody>
                    <a:bodyPr/>
                    <a:lstStyle/>
                    <a:p>
                      <a:pPr marL="0" marR="0">
                        <a:spcAft>
                          <a:spcPts val="300"/>
                        </a:spcAft>
                        <a:buNone/>
                      </a:pPr>
                      <a:r>
                        <a:rPr lang="en-US" sz="1600">
                          <a:effectLst/>
                        </a:rPr>
                        <a:t>Exercise level</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0.3</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3266314645"/>
                  </a:ext>
                </a:extLst>
              </a:tr>
              <a:tr h="298813">
                <a:tc>
                  <a:txBody>
                    <a:bodyPr/>
                    <a:lstStyle/>
                    <a:p>
                      <a:pPr marL="0" marR="0">
                        <a:spcAft>
                          <a:spcPts val="300"/>
                        </a:spcAft>
                        <a:buNone/>
                      </a:pPr>
                      <a:r>
                        <a:rPr lang="en-US" sz="1600">
                          <a:effectLst/>
                        </a:rPr>
                        <a:t>    1: Low</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90 (31%)</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187 (27%)</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1203495559"/>
                  </a:ext>
                </a:extLst>
              </a:tr>
              <a:tr h="298813">
                <a:tc>
                  <a:txBody>
                    <a:bodyPr/>
                    <a:lstStyle/>
                    <a:p>
                      <a:pPr marL="0" marR="0">
                        <a:spcAft>
                          <a:spcPts val="300"/>
                        </a:spcAft>
                        <a:buNone/>
                      </a:pPr>
                      <a:r>
                        <a:rPr lang="en-US" sz="1600">
                          <a:effectLst/>
                        </a:rPr>
                        <a:t>    2: Moderate</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128 (44%)</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291 (42%)</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2685128125"/>
                  </a:ext>
                </a:extLst>
              </a:tr>
              <a:tr h="298813">
                <a:tc>
                  <a:txBody>
                    <a:bodyPr/>
                    <a:lstStyle/>
                    <a:p>
                      <a:pPr marL="0" marR="0">
                        <a:spcAft>
                          <a:spcPts val="300"/>
                        </a:spcAft>
                        <a:buNone/>
                      </a:pPr>
                      <a:r>
                        <a:rPr lang="en-US" sz="1600">
                          <a:effectLst/>
                        </a:rPr>
                        <a:t>    3: High</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76 (26%)</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210 (31%)</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2468285440"/>
                  </a:ext>
                </a:extLst>
              </a:tr>
              <a:tr h="298813">
                <a:tc>
                  <a:txBody>
                    <a:bodyPr/>
                    <a:lstStyle/>
                    <a:p>
                      <a:pPr marL="0" marR="0">
                        <a:spcAft>
                          <a:spcPts val="300"/>
                        </a:spcAft>
                        <a:buNone/>
                      </a:pPr>
                      <a:r>
                        <a:rPr lang="en-US" sz="1600">
                          <a:effectLst/>
                        </a:rPr>
                        <a:t>Treatment assignment</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0.9</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3073296565"/>
                  </a:ext>
                </a:extLst>
              </a:tr>
              <a:tr h="298813">
                <a:tc>
                  <a:txBody>
                    <a:bodyPr/>
                    <a:lstStyle/>
                    <a:p>
                      <a:pPr marL="0" marR="0">
                        <a:spcAft>
                          <a:spcPts val="300"/>
                        </a:spcAft>
                        <a:buNone/>
                      </a:pPr>
                      <a:r>
                        <a:rPr lang="en-US" sz="1600">
                          <a:effectLst/>
                        </a:rPr>
                        <a:t>    Control</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144 (49%)</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341 (50%)</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370484245"/>
                  </a:ext>
                </a:extLst>
              </a:tr>
              <a:tr h="298813">
                <a:tc>
                  <a:txBody>
                    <a:bodyPr/>
                    <a:lstStyle/>
                    <a:p>
                      <a:pPr marL="0" marR="0">
                        <a:spcAft>
                          <a:spcPts val="300"/>
                        </a:spcAft>
                        <a:buNone/>
                      </a:pPr>
                      <a:r>
                        <a:rPr lang="en-US" sz="1600">
                          <a:effectLst/>
                        </a:rPr>
                        <a:t>    Treatment</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150 (51%)</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347 (50%)</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1860299782"/>
                  </a:ext>
                </a:extLst>
              </a:tr>
              <a:tr h="298813">
                <a:tc>
                  <a:txBody>
                    <a:bodyPr/>
                    <a:lstStyle/>
                    <a:p>
                      <a:pPr marL="0" marR="0">
                        <a:spcAft>
                          <a:spcPts val="300"/>
                        </a:spcAft>
                        <a:buNone/>
                      </a:pPr>
                      <a:r>
                        <a:rPr lang="en-US" sz="1600">
                          <a:effectLst/>
                        </a:rPr>
                        <a:t>Smoking status</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0.3</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1510389202"/>
                  </a:ext>
                </a:extLst>
              </a:tr>
              <a:tr h="298813">
                <a:tc>
                  <a:txBody>
                    <a:bodyPr/>
                    <a:lstStyle/>
                    <a:p>
                      <a:pPr marL="0" marR="0">
                        <a:spcAft>
                          <a:spcPts val="300"/>
                        </a:spcAft>
                        <a:buNone/>
                      </a:pPr>
                      <a:r>
                        <a:rPr lang="en-US" sz="1600">
                          <a:effectLst/>
                        </a:rPr>
                        <a:t>    Never</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259 (89%)</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588 (86%)</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2001684081"/>
                  </a:ext>
                </a:extLst>
              </a:tr>
              <a:tr h="298813">
                <a:tc>
                  <a:txBody>
                    <a:bodyPr/>
                    <a:lstStyle/>
                    <a:p>
                      <a:pPr marL="0" marR="0">
                        <a:spcAft>
                          <a:spcPts val="300"/>
                        </a:spcAft>
                        <a:buNone/>
                      </a:pPr>
                      <a:r>
                        <a:rPr lang="en-US" sz="1600">
                          <a:effectLst/>
                        </a:rPr>
                        <a:t>    Ever</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dirty="0">
                          <a:effectLst/>
                        </a:rPr>
                        <a:t>33 (11%)</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92 (14%)</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a:txBody>
                    <a:bodyPr/>
                    <a:lstStyle/>
                    <a:p>
                      <a:pPr marL="0" marR="0" algn="ctr">
                        <a:spcAft>
                          <a:spcPts val="300"/>
                        </a:spcAft>
                        <a:buNone/>
                      </a:pPr>
                      <a:r>
                        <a:rPr lang="en-US" sz="1600">
                          <a:effectLst/>
                        </a:rPr>
                        <a:t> </a:t>
                      </a:r>
                      <a:endParaRPr lang="en-US" sz="160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extLst>
                  <a:ext uri="{0D108BD9-81ED-4DB2-BD59-A6C34878D82A}">
                    <a16:rowId xmlns:a16="http://schemas.microsoft.com/office/drawing/2014/main" val="2305705203"/>
                  </a:ext>
                </a:extLst>
              </a:tr>
              <a:tr h="298813">
                <a:tc gridSpan="4">
                  <a:txBody>
                    <a:bodyPr/>
                    <a:lstStyle/>
                    <a:p>
                      <a:pPr marL="0" marR="0">
                        <a:spcAft>
                          <a:spcPts val="300"/>
                        </a:spcAft>
                        <a:buNone/>
                      </a:pPr>
                      <a:r>
                        <a:rPr lang="en-US" sz="1600" baseline="30000" dirty="0">
                          <a:effectLst/>
                        </a:rPr>
                        <a:t>1</a:t>
                      </a:r>
                      <a:r>
                        <a:rPr lang="en-US" sz="1600" dirty="0">
                          <a:effectLst/>
                        </a:rPr>
                        <a:t>Median (Q1, Q3); n (%)</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28092042"/>
                  </a:ext>
                </a:extLst>
              </a:tr>
              <a:tr h="298813">
                <a:tc gridSpan="4">
                  <a:txBody>
                    <a:bodyPr/>
                    <a:lstStyle/>
                    <a:p>
                      <a:pPr marL="0" marR="0">
                        <a:spcAft>
                          <a:spcPts val="300"/>
                        </a:spcAft>
                        <a:buNone/>
                      </a:pPr>
                      <a:r>
                        <a:rPr lang="en-US" sz="1600" baseline="30000" dirty="0">
                          <a:effectLst/>
                        </a:rPr>
                        <a:t>2</a:t>
                      </a:r>
                      <a:r>
                        <a:rPr lang="en-US" sz="1600" dirty="0">
                          <a:effectLst/>
                        </a:rPr>
                        <a:t>Wilcoxon rank sum test; Pearson's Chi-squared test</a:t>
                      </a:r>
                      <a:endParaRPr lang="en-US" sz="1600" dirty="0">
                        <a:effectLst/>
                        <a:latin typeface="Aptos" panose="020B0004020202020204" pitchFamily="34" charset="0"/>
                        <a:ea typeface="Aptos" panose="020B0004020202020204" pitchFamily="34" charset="0"/>
                        <a:cs typeface="Times New Roman" panose="02020603050405020304" pitchFamily="18" charset="0"/>
                      </a:endParaRPr>
                    </a:p>
                  </a:txBody>
                  <a:tcPr marL="11071" marR="11071"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00757096"/>
                  </a:ext>
                </a:extLst>
              </a:tr>
            </a:tbl>
          </a:graphicData>
        </a:graphic>
      </p:graphicFrame>
    </p:spTree>
    <p:extLst>
      <p:ext uri="{BB962C8B-B14F-4D97-AF65-F5344CB8AC3E}">
        <p14:creationId xmlns:p14="http://schemas.microsoft.com/office/powerpoint/2010/main" val="3688310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Results – Risk Ratios</a:t>
            </a:r>
          </a:p>
        </p:txBody>
      </p:sp>
      <p:graphicFrame>
        <p:nvGraphicFramePr>
          <p:cNvPr id="9" name="Table 8">
            <a:extLst>
              <a:ext uri="{FF2B5EF4-FFF2-40B4-BE49-F238E27FC236}">
                <a16:creationId xmlns:a16="http://schemas.microsoft.com/office/drawing/2014/main" id="{42BDE977-C218-C0D0-E03F-AD23F40BDAAC}"/>
              </a:ext>
            </a:extLst>
          </p:cNvPr>
          <p:cNvGraphicFramePr>
            <a:graphicFrameLocks noGrp="1"/>
          </p:cNvGraphicFramePr>
          <p:nvPr>
            <p:extLst>
              <p:ext uri="{D42A27DB-BD31-4B8C-83A1-F6EECF244321}">
                <p14:modId xmlns:p14="http://schemas.microsoft.com/office/powerpoint/2010/main" val="774402281"/>
              </p:ext>
            </p:extLst>
          </p:nvPr>
        </p:nvGraphicFramePr>
        <p:xfrm>
          <a:off x="1887860" y="2222090"/>
          <a:ext cx="5368279" cy="2360229"/>
        </p:xfrm>
        <a:graphic>
          <a:graphicData uri="http://schemas.openxmlformats.org/drawingml/2006/table">
            <a:tbl>
              <a:tblPr firstRow="1" firstCol="1" bandRow="1">
                <a:tableStyleId>{5C22544A-7EE6-4342-B048-85BDC9FD1C3A}</a:tableStyleId>
              </a:tblPr>
              <a:tblGrid>
                <a:gridCol w="1324861">
                  <a:extLst>
                    <a:ext uri="{9D8B030D-6E8A-4147-A177-3AD203B41FA5}">
                      <a16:colId xmlns:a16="http://schemas.microsoft.com/office/drawing/2014/main" val="1940798642"/>
                    </a:ext>
                  </a:extLst>
                </a:gridCol>
                <a:gridCol w="1324861">
                  <a:extLst>
                    <a:ext uri="{9D8B030D-6E8A-4147-A177-3AD203B41FA5}">
                      <a16:colId xmlns:a16="http://schemas.microsoft.com/office/drawing/2014/main" val="308874101"/>
                    </a:ext>
                  </a:extLst>
                </a:gridCol>
                <a:gridCol w="1324011">
                  <a:extLst>
                    <a:ext uri="{9D8B030D-6E8A-4147-A177-3AD203B41FA5}">
                      <a16:colId xmlns:a16="http://schemas.microsoft.com/office/drawing/2014/main" val="3144415852"/>
                    </a:ext>
                  </a:extLst>
                </a:gridCol>
                <a:gridCol w="1394546">
                  <a:extLst>
                    <a:ext uri="{9D8B030D-6E8A-4147-A177-3AD203B41FA5}">
                      <a16:colId xmlns:a16="http://schemas.microsoft.com/office/drawing/2014/main" val="2170289404"/>
                    </a:ext>
                  </a:extLst>
                </a:gridCol>
              </a:tblGrid>
              <a:tr h="1016613">
                <a:tc>
                  <a:txBody>
                    <a:bodyPr/>
                    <a:lstStyle/>
                    <a:p>
                      <a:pPr marL="0" marR="0">
                        <a:lnSpc>
                          <a:spcPct val="115000"/>
                        </a:lnSpc>
                        <a:spcAft>
                          <a:spcPts val="800"/>
                        </a:spcAft>
                        <a:buNone/>
                      </a:pP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Pregnancy losses (n/N)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Unadjusted RR (95% CI)</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Multivariable-adjusted</a:t>
                      </a:r>
                      <a:r>
                        <a:rPr lang="en-US" sz="1600" kern="100" baseline="30000">
                          <a:effectLst/>
                        </a:rPr>
                        <a:t>1</a:t>
                      </a:r>
                      <a:r>
                        <a:rPr lang="en-US" sz="1600" kern="100">
                          <a:effectLst/>
                        </a:rPr>
                        <a:t> RR (95% CI)</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0058797"/>
                  </a:ext>
                </a:extLst>
              </a:tr>
              <a:tr h="671808">
                <a:tc>
                  <a:txBody>
                    <a:bodyPr/>
                    <a:lstStyle/>
                    <a:p>
                      <a:pPr marL="0" marR="0">
                        <a:lnSpc>
                          <a:spcPct val="115000"/>
                        </a:lnSpc>
                        <a:spcAft>
                          <a:spcPts val="800"/>
                        </a:spcAft>
                        <a:buNone/>
                      </a:pPr>
                      <a:r>
                        <a:rPr lang="en-US" sz="1600" kern="100">
                          <a:effectLst/>
                        </a:rPr>
                        <a:t>S-ferritin ≥30 μg/L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125 / 456</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rPr>
                        <a:t>1.00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1720572"/>
                  </a:ext>
                </a:extLst>
              </a:tr>
              <a:tr h="671808">
                <a:tc>
                  <a:txBody>
                    <a:bodyPr/>
                    <a:lstStyle/>
                    <a:p>
                      <a:pPr marL="0" marR="0">
                        <a:lnSpc>
                          <a:spcPct val="115000"/>
                        </a:lnSpc>
                        <a:spcAft>
                          <a:spcPts val="800"/>
                        </a:spcAft>
                        <a:buNone/>
                      </a:pPr>
                      <a:r>
                        <a:rPr lang="en-US" sz="1600" kern="100">
                          <a:effectLst/>
                        </a:rPr>
                        <a:t>S-ferritin &lt;30 μg/L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32 / 181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0.76 (0.46, 0.94)</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rPr>
                        <a:t>0.70 (0.49, 1.00)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2844802"/>
                  </a:ext>
                </a:extLst>
              </a:tr>
            </a:tbl>
          </a:graphicData>
        </a:graphic>
      </p:graphicFrame>
      <p:sp>
        <p:nvSpPr>
          <p:cNvPr id="13" name="TextBox 12">
            <a:extLst>
              <a:ext uri="{FF2B5EF4-FFF2-40B4-BE49-F238E27FC236}">
                <a16:creationId xmlns:a16="http://schemas.microsoft.com/office/drawing/2014/main" id="{635A10D8-543D-848F-72AA-0DFA19F693DE}"/>
              </a:ext>
            </a:extLst>
          </p:cNvPr>
          <p:cNvSpPr txBox="1"/>
          <p:nvPr/>
        </p:nvSpPr>
        <p:spPr>
          <a:xfrm>
            <a:off x="1077860" y="4914700"/>
            <a:ext cx="7570451" cy="1071191"/>
          </a:xfrm>
          <a:prstGeom prst="rect">
            <a:avLst/>
          </a:prstGeom>
          <a:noFill/>
        </p:spPr>
        <p:txBody>
          <a:bodyPr wrap="square">
            <a:spAutoFit/>
          </a:bodyPr>
          <a:lstStyle/>
          <a:p>
            <a:pPr marL="0" marR="0">
              <a:lnSpc>
                <a:spcPct val="115000"/>
              </a:lnSpc>
              <a:spcAft>
                <a:spcPts val="800"/>
              </a:spcAft>
              <a:buNone/>
            </a:pPr>
            <a:r>
              <a:rPr lang="en-US" sz="1400" kern="100" baseline="30000" dirty="0">
                <a:effectLst/>
                <a:latin typeface="Aptos" panose="020B0004020202020204" pitchFamily="34" charset="0"/>
                <a:ea typeface="Aptos" panose="020B0004020202020204" pitchFamily="34" charset="0"/>
                <a:cs typeface="Times New Roman" panose="02020603050405020304" pitchFamily="18" charset="0"/>
              </a:rPr>
              <a:t>1</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The model was adjusted for age, BMI (&lt;25, 25-30, &gt;30 kg/m</a:t>
            </a:r>
            <a:r>
              <a:rPr lang="en-US" sz="1400" kern="100" baseline="30000" dirty="0">
                <a:effectLst/>
                <a:latin typeface="Aptos" panose="020B0004020202020204" pitchFamily="34" charset="0"/>
                <a:ea typeface="Aptos" panose="020B0004020202020204" pitchFamily="34" charset="0"/>
                <a:cs typeface="Times New Roman" panose="02020603050405020304" pitchFamily="18" charset="0"/>
              </a:rPr>
              <a:t>2</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race (White, Non-White), parity (Parous, Nulliparous), income (&lt;$40,000, $40,000-$99,999, ≥$100,000), smoking status (Never, Ever), pre-natal vitamin intake (no vitamins, vitamins without folic acid, vitamins with folic acid), exercise (low, medium, high), and aspirin treatment assignment (Yes, No).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dirty="0">
                <a:solidFill>
                  <a:srgbClr val="FFFFFF"/>
                </a:solidFill>
              </a:rPr>
              <a:t>Stratified Analyses</a:t>
            </a:r>
          </a:p>
        </p:txBody>
      </p:sp>
      <p:graphicFrame>
        <p:nvGraphicFramePr>
          <p:cNvPr id="4" name="Table 3">
            <a:extLst>
              <a:ext uri="{FF2B5EF4-FFF2-40B4-BE49-F238E27FC236}">
                <a16:creationId xmlns:a16="http://schemas.microsoft.com/office/drawing/2014/main" id="{EB5E6456-BC17-2EF0-882F-E804BA9A04E5}"/>
              </a:ext>
            </a:extLst>
          </p:cNvPr>
          <p:cNvGraphicFramePr>
            <a:graphicFrameLocks noGrp="1"/>
          </p:cNvGraphicFramePr>
          <p:nvPr>
            <p:extLst>
              <p:ext uri="{D42A27DB-BD31-4B8C-83A1-F6EECF244321}">
                <p14:modId xmlns:p14="http://schemas.microsoft.com/office/powerpoint/2010/main" val="3076164158"/>
              </p:ext>
            </p:extLst>
          </p:nvPr>
        </p:nvGraphicFramePr>
        <p:xfrm>
          <a:off x="147485" y="1891970"/>
          <a:ext cx="8868692" cy="3183514"/>
        </p:xfrm>
        <a:graphic>
          <a:graphicData uri="http://schemas.openxmlformats.org/drawingml/2006/table">
            <a:tbl>
              <a:tblPr firstRow="1" firstCol="1" bandRow="1">
                <a:tableStyleId>{5C22544A-7EE6-4342-B048-85BDC9FD1C3A}</a:tableStyleId>
              </a:tblPr>
              <a:tblGrid>
                <a:gridCol w="1266956">
                  <a:extLst>
                    <a:ext uri="{9D8B030D-6E8A-4147-A177-3AD203B41FA5}">
                      <a16:colId xmlns:a16="http://schemas.microsoft.com/office/drawing/2014/main" val="697476101"/>
                    </a:ext>
                  </a:extLst>
                </a:gridCol>
                <a:gridCol w="1266956">
                  <a:extLst>
                    <a:ext uri="{9D8B030D-6E8A-4147-A177-3AD203B41FA5}">
                      <a16:colId xmlns:a16="http://schemas.microsoft.com/office/drawing/2014/main" val="1670394744"/>
                    </a:ext>
                  </a:extLst>
                </a:gridCol>
                <a:gridCol w="1266956">
                  <a:extLst>
                    <a:ext uri="{9D8B030D-6E8A-4147-A177-3AD203B41FA5}">
                      <a16:colId xmlns:a16="http://schemas.microsoft.com/office/drawing/2014/main" val="4262904082"/>
                    </a:ext>
                  </a:extLst>
                </a:gridCol>
                <a:gridCol w="1266956">
                  <a:extLst>
                    <a:ext uri="{9D8B030D-6E8A-4147-A177-3AD203B41FA5}">
                      <a16:colId xmlns:a16="http://schemas.microsoft.com/office/drawing/2014/main" val="2455716582"/>
                    </a:ext>
                  </a:extLst>
                </a:gridCol>
                <a:gridCol w="1266956">
                  <a:extLst>
                    <a:ext uri="{9D8B030D-6E8A-4147-A177-3AD203B41FA5}">
                      <a16:colId xmlns:a16="http://schemas.microsoft.com/office/drawing/2014/main" val="4159838730"/>
                    </a:ext>
                  </a:extLst>
                </a:gridCol>
                <a:gridCol w="1266956">
                  <a:extLst>
                    <a:ext uri="{9D8B030D-6E8A-4147-A177-3AD203B41FA5}">
                      <a16:colId xmlns:a16="http://schemas.microsoft.com/office/drawing/2014/main" val="1889703382"/>
                    </a:ext>
                  </a:extLst>
                </a:gridCol>
                <a:gridCol w="1266956">
                  <a:extLst>
                    <a:ext uri="{9D8B030D-6E8A-4147-A177-3AD203B41FA5}">
                      <a16:colId xmlns:a16="http://schemas.microsoft.com/office/drawing/2014/main" val="956240354"/>
                    </a:ext>
                  </a:extLst>
                </a:gridCol>
              </a:tblGrid>
              <a:tr h="233631">
                <a:tc>
                  <a:txBody>
                    <a:bodyPr/>
                    <a:lstStyle/>
                    <a:p>
                      <a:pPr marL="0" marR="0">
                        <a:lnSpc>
                          <a:spcPct val="115000"/>
                        </a:lnSpc>
                        <a:spcAft>
                          <a:spcPts val="800"/>
                        </a:spcAft>
                        <a:buNone/>
                      </a:pP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gridSpan="3">
                  <a:txBody>
                    <a:bodyPr/>
                    <a:lstStyle/>
                    <a:p>
                      <a:pPr marL="0" marR="0">
                        <a:lnSpc>
                          <a:spcPct val="115000"/>
                        </a:lnSpc>
                        <a:spcAft>
                          <a:spcPts val="800"/>
                        </a:spcAft>
                        <a:buNone/>
                      </a:pPr>
                      <a:r>
                        <a:rPr lang="en-US" sz="1600" kern="100">
                          <a:effectLst/>
                        </a:rPr>
                        <a:t>Nulliparous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gridSpan="3">
                  <a:txBody>
                    <a:bodyPr/>
                    <a:lstStyle/>
                    <a:p>
                      <a:pPr marL="0" marR="0">
                        <a:lnSpc>
                          <a:spcPct val="115000"/>
                        </a:lnSpc>
                        <a:spcAft>
                          <a:spcPts val="800"/>
                        </a:spcAft>
                        <a:buNone/>
                      </a:pPr>
                      <a:r>
                        <a:rPr lang="en-US" sz="1600" kern="100">
                          <a:effectLst/>
                        </a:rPr>
                        <a:t>Parous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4414765"/>
                  </a:ext>
                </a:extLst>
              </a:tr>
              <a:tr h="972504">
                <a:tc>
                  <a:txBody>
                    <a:bodyPr/>
                    <a:lstStyle/>
                    <a:p>
                      <a:pPr marL="0" marR="0">
                        <a:lnSpc>
                          <a:spcPct val="115000"/>
                        </a:lnSpc>
                        <a:spcAft>
                          <a:spcPts val="800"/>
                        </a:spcAft>
                        <a:buNone/>
                      </a:pP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rPr>
                        <a:t>Pregnancy losses (n/N)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rPr>
                        <a:t>Unadjusted RR (95% CI)</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Multivariable-adjusted</a:t>
                      </a:r>
                      <a:r>
                        <a:rPr lang="en-US" sz="1600" kern="100" baseline="30000">
                          <a:effectLst/>
                        </a:rPr>
                        <a:t>1</a:t>
                      </a:r>
                      <a:r>
                        <a:rPr lang="en-US" sz="1600" kern="100">
                          <a:effectLst/>
                        </a:rPr>
                        <a:t> RR (95% CI)</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Pregnancy losses (n/N)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Unadjusted RR (95% CI)</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Multivariable-adjusted</a:t>
                      </a:r>
                      <a:r>
                        <a:rPr lang="en-US" sz="1600" kern="100" baseline="30000">
                          <a:effectLst/>
                        </a:rPr>
                        <a:t>1</a:t>
                      </a:r>
                      <a:r>
                        <a:rPr lang="en-US" sz="1600" kern="100">
                          <a:effectLst/>
                        </a:rPr>
                        <a:t> RR (95% CI)</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04119778"/>
                  </a:ext>
                </a:extLst>
              </a:tr>
              <a:tr h="972504">
                <a:tc>
                  <a:txBody>
                    <a:bodyPr/>
                    <a:lstStyle/>
                    <a:p>
                      <a:pPr marL="0" marR="0">
                        <a:lnSpc>
                          <a:spcPct val="115000"/>
                        </a:lnSpc>
                        <a:spcAft>
                          <a:spcPts val="800"/>
                        </a:spcAft>
                        <a:buNone/>
                      </a:pPr>
                      <a:r>
                        <a:rPr lang="en-US" sz="1600" kern="100">
                          <a:effectLst/>
                        </a:rPr>
                        <a:t>S-ferritin ≥30 μg/L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53 / 178</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rPr>
                        <a:t>1.00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rPr>
                        <a:t>72 / 278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32449183"/>
                  </a:ext>
                </a:extLst>
              </a:tr>
              <a:tr h="972504">
                <a:tc>
                  <a:txBody>
                    <a:bodyPr/>
                    <a:lstStyle/>
                    <a:p>
                      <a:pPr marL="0" marR="0">
                        <a:lnSpc>
                          <a:spcPct val="115000"/>
                        </a:lnSpc>
                        <a:spcAft>
                          <a:spcPts val="800"/>
                        </a:spcAft>
                        <a:buNone/>
                      </a:pPr>
                      <a:r>
                        <a:rPr lang="en-US" sz="1600" kern="100">
                          <a:effectLst/>
                        </a:rPr>
                        <a:t>S-ferritin &lt;30 μg/L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17 / 61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0.88 (0.55, 1.42)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rPr>
                        <a:t>0.96 (0.58, 1.59)</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rPr>
                        <a:t>15 / 120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rPr>
                        <a:t>0.50 (0.30, 0.85)</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rPr>
                        <a:t>0.52 (0.32, 0.87)</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37425185"/>
                  </a:ext>
                </a:extLst>
              </a:tr>
            </a:tbl>
          </a:graphicData>
        </a:graphic>
      </p:graphicFrame>
      <p:sp>
        <p:nvSpPr>
          <p:cNvPr id="6" name="TextBox 5">
            <a:extLst>
              <a:ext uri="{FF2B5EF4-FFF2-40B4-BE49-F238E27FC236}">
                <a16:creationId xmlns:a16="http://schemas.microsoft.com/office/drawing/2014/main" id="{98E7EF55-0DBA-251A-A30F-A302F70B03F5}"/>
              </a:ext>
            </a:extLst>
          </p:cNvPr>
          <p:cNvSpPr txBox="1"/>
          <p:nvPr/>
        </p:nvSpPr>
        <p:spPr>
          <a:xfrm>
            <a:off x="909320" y="5266788"/>
            <a:ext cx="7541342" cy="1071191"/>
          </a:xfrm>
          <a:prstGeom prst="rect">
            <a:avLst/>
          </a:prstGeom>
          <a:noFill/>
        </p:spPr>
        <p:txBody>
          <a:bodyPr wrap="square">
            <a:spAutoFit/>
          </a:bodyPr>
          <a:lstStyle/>
          <a:p>
            <a:pPr marL="0" marR="0">
              <a:lnSpc>
                <a:spcPct val="115000"/>
              </a:lnSpc>
              <a:spcAft>
                <a:spcPts val="800"/>
              </a:spcAft>
              <a:buNone/>
            </a:pPr>
            <a:r>
              <a:rPr lang="en-US" sz="1400" kern="100" baseline="30000" dirty="0">
                <a:effectLst/>
                <a:latin typeface="Aptos" panose="020B0004020202020204" pitchFamily="34" charset="0"/>
                <a:ea typeface="Aptos" panose="020B0004020202020204" pitchFamily="34" charset="0"/>
                <a:cs typeface="Times New Roman" panose="02020603050405020304" pitchFamily="18" charset="0"/>
              </a:rPr>
              <a:t>1</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The model was adjusted for age, BMI (&lt;25, 25-30, &gt;30 kg/m</a:t>
            </a:r>
            <a:r>
              <a:rPr lang="en-US" sz="1400" kern="100" baseline="30000" dirty="0">
                <a:effectLst/>
                <a:latin typeface="Aptos" panose="020B0004020202020204" pitchFamily="34" charset="0"/>
                <a:ea typeface="Aptos" panose="020B0004020202020204" pitchFamily="34" charset="0"/>
                <a:cs typeface="Times New Roman" panose="02020603050405020304" pitchFamily="18" charset="0"/>
              </a:rPr>
              <a:t>2</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race (White, Non-White), income (&lt;$40,000, $40,000-$99,999, ≥$100,000), smoking status (Never, Ever), pre-natal vitamin intake (no vitamins, vitamins without folic acid, vitamins with folic acid), exercise (low, medium, high), and aspirin treatment assignment (Yes, No).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66F787-73E2-35AE-6BAA-ED951ACF0082}"/>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833C9B8C-122B-5EB8-F5A8-B6ECF8B3C226}"/>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dirty="0">
                <a:solidFill>
                  <a:srgbClr val="FFFFFF"/>
                </a:solidFill>
                <a:latin typeface="+mj-lt"/>
                <a:ea typeface="+mj-ea"/>
                <a:cs typeface="+mj-cs"/>
              </a:rPr>
              <a:t>Stratified Analyses (cont.)</a:t>
            </a:r>
          </a:p>
        </p:txBody>
      </p:sp>
      <p:graphicFrame>
        <p:nvGraphicFramePr>
          <p:cNvPr id="9" name="Table 8">
            <a:extLst>
              <a:ext uri="{FF2B5EF4-FFF2-40B4-BE49-F238E27FC236}">
                <a16:creationId xmlns:a16="http://schemas.microsoft.com/office/drawing/2014/main" id="{A506A1BA-5CBA-149C-55D6-691374A50148}"/>
              </a:ext>
            </a:extLst>
          </p:cNvPr>
          <p:cNvGraphicFramePr>
            <a:graphicFrameLocks noGrp="1"/>
          </p:cNvGraphicFramePr>
          <p:nvPr>
            <p:extLst>
              <p:ext uri="{D42A27DB-BD31-4B8C-83A1-F6EECF244321}">
                <p14:modId xmlns:p14="http://schemas.microsoft.com/office/powerpoint/2010/main" val="2762379203"/>
              </p:ext>
            </p:extLst>
          </p:nvPr>
        </p:nvGraphicFramePr>
        <p:xfrm>
          <a:off x="186516" y="1690690"/>
          <a:ext cx="8800170" cy="3699460"/>
        </p:xfrm>
        <a:graphic>
          <a:graphicData uri="http://schemas.openxmlformats.org/drawingml/2006/table">
            <a:tbl>
              <a:tblPr firstRow="1" firstCol="1" bandRow="1">
                <a:tableStyleId>{5C22544A-7EE6-4342-B048-85BDC9FD1C3A}</a:tableStyleId>
              </a:tblPr>
              <a:tblGrid>
                <a:gridCol w="880017">
                  <a:extLst>
                    <a:ext uri="{9D8B030D-6E8A-4147-A177-3AD203B41FA5}">
                      <a16:colId xmlns:a16="http://schemas.microsoft.com/office/drawing/2014/main" val="925970191"/>
                    </a:ext>
                  </a:extLst>
                </a:gridCol>
                <a:gridCol w="880017">
                  <a:extLst>
                    <a:ext uri="{9D8B030D-6E8A-4147-A177-3AD203B41FA5}">
                      <a16:colId xmlns:a16="http://schemas.microsoft.com/office/drawing/2014/main" val="613198270"/>
                    </a:ext>
                  </a:extLst>
                </a:gridCol>
                <a:gridCol w="880017">
                  <a:extLst>
                    <a:ext uri="{9D8B030D-6E8A-4147-A177-3AD203B41FA5}">
                      <a16:colId xmlns:a16="http://schemas.microsoft.com/office/drawing/2014/main" val="2410390053"/>
                    </a:ext>
                  </a:extLst>
                </a:gridCol>
                <a:gridCol w="880017">
                  <a:extLst>
                    <a:ext uri="{9D8B030D-6E8A-4147-A177-3AD203B41FA5}">
                      <a16:colId xmlns:a16="http://schemas.microsoft.com/office/drawing/2014/main" val="3716728220"/>
                    </a:ext>
                  </a:extLst>
                </a:gridCol>
                <a:gridCol w="880017">
                  <a:extLst>
                    <a:ext uri="{9D8B030D-6E8A-4147-A177-3AD203B41FA5}">
                      <a16:colId xmlns:a16="http://schemas.microsoft.com/office/drawing/2014/main" val="406292743"/>
                    </a:ext>
                  </a:extLst>
                </a:gridCol>
                <a:gridCol w="880017">
                  <a:extLst>
                    <a:ext uri="{9D8B030D-6E8A-4147-A177-3AD203B41FA5}">
                      <a16:colId xmlns:a16="http://schemas.microsoft.com/office/drawing/2014/main" val="1469932357"/>
                    </a:ext>
                  </a:extLst>
                </a:gridCol>
                <a:gridCol w="880017">
                  <a:extLst>
                    <a:ext uri="{9D8B030D-6E8A-4147-A177-3AD203B41FA5}">
                      <a16:colId xmlns:a16="http://schemas.microsoft.com/office/drawing/2014/main" val="3027971164"/>
                    </a:ext>
                  </a:extLst>
                </a:gridCol>
                <a:gridCol w="880017">
                  <a:extLst>
                    <a:ext uri="{9D8B030D-6E8A-4147-A177-3AD203B41FA5}">
                      <a16:colId xmlns:a16="http://schemas.microsoft.com/office/drawing/2014/main" val="1837660847"/>
                    </a:ext>
                  </a:extLst>
                </a:gridCol>
                <a:gridCol w="880017">
                  <a:extLst>
                    <a:ext uri="{9D8B030D-6E8A-4147-A177-3AD203B41FA5}">
                      <a16:colId xmlns:a16="http://schemas.microsoft.com/office/drawing/2014/main" val="389520848"/>
                    </a:ext>
                  </a:extLst>
                </a:gridCol>
                <a:gridCol w="880017">
                  <a:extLst>
                    <a:ext uri="{9D8B030D-6E8A-4147-A177-3AD203B41FA5}">
                      <a16:colId xmlns:a16="http://schemas.microsoft.com/office/drawing/2014/main" val="1241018794"/>
                    </a:ext>
                  </a:extLst>
                </a:gridCol>
              </a:tblGrid>
              <a:tr h="196079">
                <a:tc>
                  <a:txBody>
                    <a:bodyPr/>
                    <a:lstStyle/>
                    <a:p>
                      <a:pPr marL="0" marR="0">
                        <a:lnSpc>
                          <a:spcPct val="115000"/>
                        </a:lnSpc>
                        <a:spcAft>
                          <a:spcPts val="800"/>
                        </a:spcAft>
                        <a:buNone/>
                      </a:pP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gridSpan="3">
                  <a:txBody>
                    <a:bodyPr/>
                    <a:lstStyle/>
                    <a:p>
                      <a:pPr marL="0" marR="0">
                        <a:lnSpc>
                          <a:spcPct val="115000"/>
                        </a:lnSpc>
                        <a:spcAft>
                          <a:spcPts val="800"/>
                        </a:spcAft>
                        <a:buNone/>
                      </a:pPr>
                      <a:r>
                        <a:rPr lang="en-US" sz="1600" kern="100">
                          <a:effectLst/>
                        </a:rPr>
                        <a:t>BMI &lt;25 kg/m</a:t>
                      </a:r>
                      <a:r>
                        <a:rPr lang="en-US" sz="1600" kern="100" baseline="30000">
                          <a:effectLst/>
                        </a:rPr>
                        <a:t>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hMerge="1">
                  <a:txBody>
                    <a:bodyPr/>
                    <a:lstStyle/>
                    <a:p>
                      <a:endParaRPr lang="en-US"/>
                    </a:p>
                  </a:txBody>
                  <a:tcPr/>
                </a:tc>
                <a:tc hMerge="1">
                  <a:txBody>
                    <a:bodyPr/>
                    <a:lstStyle/>
                    <a:p>
                      <a:endParaRPr lang="en-US"/>
                    </a:p>
                  </a:txBody>
                  <a:tcPr/>
                </a:tc>
                <a:tc gridSpan="3">
                  <a:txBody>
                    <a:bodyPr/>
                    <a:lstStyle/>
                    <a:p>
                      <a:pPr marL="0" marR="0">
                        <a:lnSpc>
                          <a:spcPct val="115000"/>
                        </a:lnSpc>
                        <a:spcAft>
                          <a:spcPts val="800"/>
                        </a:spcAft>
                        <a:buNone/>
                      </a:pPr>
                      <a:r>
                        <a:rPr lang="en-US" sz="1600" kern="100">
                          <a:effectLst/>
                        </a:rPr>
                        <a:t>BMI 25-30 kg/m</a:t>
                      </a:r>
                      <a:r>
                        <a:rPr lang="en-US" sz="1600" kern="100" baseline="30000">
                          <a:effectLst/>
                        </a:rPr>
                        <a:t>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hMerge="1">
                  <a:txBody>
                    <a:bodyPr/>
                    <a:lstStyle/>
                    <a:p>
                      <a:endParaRPr lang="en-US"/>
                    </a:p>
                  </a:txBody>
                  <a:tcPr/>
                </a:tc>
                <a:tc hMerge="1">
                  <a:txBody>
                    <a:bodyPr/>
                    <a:lstStyle/>
                    <a:p>
                      <a:endParaRPr lang="en-US"/>
                    </a:p>
                  </a:txBody>
                  <a:tcPr/>
                </a:tc>
                <a:tc gridSpan="3">
                  <a:txBody>
                    <a:bodyPr/>
                    <a:lstStyle/>
                    <a:p>
                      <a:pPr marL="0" marR="0">
                        <a:lnSpc>
                          <a:spcPct val="115000"/>
                        </a:lnSpc>
                        <a:spcAft>
                          <a:spcPts val="800"/>
                        </a:spcAft>
                        <a:buNone/>
                      </a:pPr>
                      <a:r>
                        <a:rPr lang="en-US" sz="1600" kern="100">
                          <a:effectLst/>
                        </a:rPr>
                        <a:t>BMI &gt;30 kg/m</a:t>
                      </a:r>
                      <a:r>
                        <a:rPr lang="en-US" sz="1600" kern="100" baseline="30000">
                          <a:effectLst/>
                        </a:rPr>
                        <a:t>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4625274"/>
                  </a:ext>
                </a:extLst>
              </a:tr>
              <a:tr h="1022896">
                <a:tc>
                  <a:txBody>
                    <a:bodyPr/>
                    <a:lstStyle/>
                    <a:p>
                      <a:pPr marL="0" marR="0">
                        <a:lnSpc>
                          <a:spcPct val="115000"/>
                        </a:lnSpc>
                        <a:spcAft>
                          <a:spcPts val="800"/>
                        </a:spcAft>
                        <a:buNone/>
                      </a:pP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Pregnancy losses (n/N)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Unadjusted RR (95% CI)</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Multivariable-adjusted</a:t>
                      </a:r>
                      <a:r>
                        <a:rPr lang="en-US" sz="1600" kern="100" baseline="30000" dirty="0">
                          <a:effectLst/>
                        </a:rPr>
                        <a:t>1</a:t>
                      </a:r>
                      <a:r>
                        <a:rPr lang="en-US" sz="1600" kern="100" dirty="0">
                          <a:effectLst/>
                        </a:rPr>
                        <a:t> RR (95% CI)</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Pregnancy losses (n/N)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Unadjusted RR (95% CI)</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Multivariable-adjusted</a:t>
                      </a:r>
                      <a:r>
                        <a:rPr lang="en-US" sz="1600" kern="100" baseline="30000">
                          <a:effectLst/>
                        </a:rPr>
                        <a:t>1</a:t>
                      </a:r>
                      <a:r>
                        <a:rPr lang="en-US" sz="1600" kern="100">
                          <a:effectLst/>
                        </a:rPr>
                        <a:t> RR (95% CI)</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Pregnancy losses (n/N)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Unadjusted RR (95% CI)</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Multivariable-adjusted</a:t>
                      </a:r>
                      <a:r>
                        <a:rPr lang="en-US" sz="1600" kern="100" baseline="30000">
                          <a:effectLst/>
                        </a:rPr>
                        <a:t>1</a:t>
                      </a:r>
                      <a:r>
                        <a:rPr lang="en-US" sz="1600" kern="100">
                          <a:effectLst/>
                        </a:rPr>
                        <a:t> RR (95% CI)</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extLst>
                  <a:ext uri="{0D108BD9-81ED-4DB2-BD59-A6C34878D82A}">
                    <a16:rowId xmlns:a16="http://schemas.microsoft.com/office/drawing/2014/main" val="3722456284"/>
                  </a:ext>
                </a:extLst>
              </a:tr>
              <a:tr h="1022896">
                <a:tc>
                  <a:txBody>
                    <a:bodyPr/>
                    <a:lstStyle/>
                    <a:p>
                      <a:pPr marL="0" marR="0">
                        <a:lnSpc>
                          <a:spcPct val="115000"/>
                        </a:lnSpc>
                        <a:spcAft>
                          <a:spcPts val="800"/>
                        </a:spcAft>
                        <a:buNone/>
                      </a:pPr>
                      <a:r>
                        <a:rPr lang="en-US" sz="1600" kern="100">
                          <a:effectLst/>
                        </a:rPr>
                        <a:t>S-ferritin ≥30 μg/L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70 / 263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23 / 101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1.00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32 / 92</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extLst>
                  <a:ext uri="{0D108BD9-81ED-4DB2-BD59-A6C34878D82A}">
                    <a16:rowId xmlns:a16="http://schemas.microsoft.com/office/drawing/2014/main" val="4100303780"/>
                  </a:ext>
                </a:extLst>
              </a:tr>
              <a:tr h="1022896">
                <a:tc>
                  <a:txBody>
                    <a:bodyPr/>
                    <a:lstStyle/>
                    <a:p>
                      <a:pPr marL="0" marR="0">
                        <a:lnSpc>
                          <a:spcPct val="115000"/>
                        </a:lnSpc>
                        <a:spcAft>
                          <a:spcPts val="800"/>
                        </a:spcAft>
                        <a:buNone/>
                      </a:pPr>
                      <a:r>
                        <a:rPr lang="en-US" sz="1600" kern="100">
                          <a:effectLst/>
                        </a:rPr>
                        <a:t>S-ferritin &lt;30 μg/L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15 / 103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0.56 (0.33, 0.94)</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0.53 (0.32, 0.90)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11 / 49</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0.98 (0.51, 1.86)</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a:effectLst/>
                        </a:rPr>
                        <a:t>0.99 (0.50, 1.97)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6 / 29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0.62 (0.28, 1.36)</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tc>
                  <a:txBody>
                    <a:bodyPr/>
                    <a:lstStyle/>
                    <a:p>
                      <a:pPr marL="0" marR="0">
                        <a:lnSpc>
                          <a:spcPct val="115000"/>
                        </a:lnSpc>
                        <a:spcAft>
                          <a:spcPts val="800"/>
                        </a:spcAft>
                        <a:buNone/>
                      </a:pPr>
                      <a:r>
                        <a:rPr lang="en-US" sz="1600" kern="100" dirty="0">
                          <a:effectLst/>
                        </a:rPr>
                        <a:t>0.76 (0.36, 1.64)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275" marR="44275" marT="0" marB="0"/>
                </a:tc>
                <a:extLst>
                  <a:ext uri="{0D108BD9-81ED-4DB2-BD59-A6C34878D82A}">
                    <a16:rowId xmlns:a16="http://schemas.microsoft.com/office/drawing/2014/main" val="3626326571"/>
                  </a:ext>
                </a:extLst>
              </a:tr>
            </a:tbl>
          </a:graphicData>
        </a:graphic>
      </p:graphicFrame>
      <p:sp>
        <p:nvSpPr>
          <p:cNvPr id="17" name="TextBox 16">
            <a:extLst>
              <a:ext uri="{FF2B5EF4-FFF2-40B4-BE49-F238E27FC236}">
                <a16:creationId xmlns:a16="http://schemas.microsoft.com/office/drawing/2014/main" id="{08155BDF-ADD1-E557-6A50-B5A24C3FAE35}"/>
              </a:ext>
            </a:extLst>
          </p:cNvPr>
          <p:cNvSpPr txBox="1"/>
          <p:nvPr/>
        </p:nvSpPr>
        <p:spPr>
          <a:xfrm>
            <a:off x="1061885" y="5496599"/>
            <a:ext cx="7388942" cy="1071191"/>
          </a:xfrm>
          <a:prstGeom prst="rect">
            <a:avLst/>
          </a:prstGeom>
          <a:noFill/>
        </p:spPr>
        <p:txBody>
          <a:bodyPr wrap="square">
            <a:spAutoFit/>
          </a:bodyPr>
          <a:lstStyle/>
          <a:p>
            <a:pPr marL="0" marR="0">
              <a:lnSpc>
                <a:spcPct val="115000"/>
              </a:lnSpc>
              <a:spcAft>
                <a:spcPts val="800"/>
              </a:spcAft>
              <a:buNone/>
            </a:pPr>
            <a:r>
              <a:rPr lang="en-US" sz="1400" kern="100" baseline="30000" dirty="0">
                <a:effectLst/>
                <a:latin typeface="Aptos" panose="020B0004020202020204" pitchFamily="34" charset="0"/>
                <a:ea typeface="Aptos" panose="020B0004020202020204" pitchFamily="34" charset="0"/>
                <a:cs typeface="Times New Roman" panose="02020603050405020304" pitchFamily="18" charset="0"/>
              </a:rPr>
              <a:t>1</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The model was adjusted for age, race (White, Non-White), parity (Parous, Nulliparous), income (&lt;$40,000, $40,000-$99,999, ≥$100,000), smoking status (Never, Ever), pre-natal vitamin intake (no vitamins, vitamins without folic acid, vitamins with folic acid), exercise (low, medium, high), and aspirin treatment assignment (Yes, No).</a:t>
            </a:r>
          </a:p>
        </p:txBody>
      </p:sp>
    </p:spTree>
    <p:extLst>
      <p:ext uri="{BB962C8B-B14F-4D97-AF65-F5344CB8AC3E}">
        <p14:creationId xmlns:p14="http://schemas.microsoft.com/office/powerpoint/2010/main" val="975182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US" sz="3500">
                <a:solidFill>
                  <a:srgbClr val="FFFFFF"/>
                </a:solidFill>
              </a:rPr>
              <a:t>Conclusion</a:t>
            </a:r>
          </a:p>
        </p:txBody>
      </p:sp>
      <p:sp>
        <p:nvSpPr>
          <p:cNvPr id="3" name="Content Placeholder 2"/>
          <p:cNvSpPr>
            <a:spLocks noGrp="1"/>
          </p:cNvSpPr>
          <p:nvPr>
            <p:ph idx="1"/>
          </p:nvPr>
        </p:nvSpPr>
        <p:spPr>
          <a:xfrm>
            <a:off x="4877368" y="649480"/>
            <a:ext cx="3646835" cy="5546047"/>
          </a:xfrm>
        </p:spPr>
        <p:txBody>
          <a:bodyPr anchor="ctr">
            <a:normAutofit/>
          </a:bodyPr>
          <a:lstStyle/>
          <a:p>
            <a:endParaRPr lang="en-US" sz="1700" dirty="0"/>
          </a:p>
          <a:p>
            <a:pPr>
              <a:defRPr sz="1800"/>
            </a:pPr>
            <a:r>
              <a:rPr lang="en-US" sz="2400" dirty="0"/>
              <a:t>Low ferritin </a:t>
            </a:r>
            <a:r>
              <a:rPr lang="en-US" sz="2400" b="1" dirty="0"/>
              <a:t>not</a:t>
            </a:r>
            <a:r>
              <a:rPr lang="en-US" sz="2400" dirty="0"/>
              <a:t> linked to higher miscarriage risk</a:t>
            </a:r>
          </a:p>
          <a:p>
            <a:pPr>
              <a:defRPr sz="1800"/>
            </a:pPr>
            <a:r>
              <a:rPr lang="en-US" sz="2400" dirty="0"/>
              <a:t>Possible protective effect in some subgroups</a:t>
            </a:r>
          </a:p>
          <a:p>
            <a:pPr>
              <a:defRPr sz="1800"/>
            </a:pPr>
            <a:r>
              <a:rPr lang="en-US" sz="2400" dirty="0"/>
              <a:t>Future research: Mechanisms, tailored supplementation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References</a:t>
            </a:r>
          </a:p>
        </p:txBody>
      </p:sp>
      <p:sp>
        <p:nvSpPr>
          <p:cNvPr id="3" name="Content Placeholder 2"/>
          <p:cNvSpPr>
            <a:spLocks noGrp="1"/>
          </p:cNvSpPr>
          <p:nvPr>
            <p:ph idx="1"/>
          </p:nvPr>
        </p:nvSpPr>
        <p:spPr>
          <a:xfrm>
            <a:off x="172255" y="1747813"/>
            <a:ext cx="8799485" cy="4940716"/>
          </a:xfrm>
        </p:spPr>
        <p:txBody>
          <a:bodyPr anchor="ctr">
            <a:normAutofit fontScale="47500" lnSpcReduction="20000"/>
          </a:bodyPr>
          <a:lstStyle/>
          <a:p>
            <a:r>
              <a:rPr lang="en-US" dirty="0"/>
              <a:t>CDC. (2024). Data and Statistics | Reproductive Health. Centers for Disease Control and Prevention. Retrieved from https://www.cdc.gov/reproductive-health/data-statistics/index.html</a:t>
            </a:r>
          </a:p>
          <a:p>
            <a:r>
              <a:rPr lang="en-US" dirty="0"/>
              <a:t>Gernand, A. D., Schulze, K. J., Stewart, C. P., West, K. P., &amp; Christian, P. (2016). Micronutrient deficiencies in pregnancy worldwide: health effects and prevention. Nature Reviews Endocrinology, 12(5), 274–289. https://doi.org/10.1038/nrendo.2016.37</a:t>
            </a:r>
          </a:p>
          <a:p>
            <a:r>
              <a:rPr lang="en-US" dirty="0"/>
              <a:t>Cappellini, M. D., Santini, V., </a:t>
            </a:r>
            <a:r>
              <a:rPr lang="en-US" dirty="0" err="1"/>
              <a:t>Braxs</a:t>
            </a:r>
            <a:r>
              <a:rPr lang="en-US" dirty="0"/>
              <a:t>, C., &amp; Shander, A. (2022). Iron metabolism and iron deficiency anemia in women. Fertility and Sterility, 118(4), 607–614. https://doi.org/10.1016/j.fertnstert.2022.08.014</a:t>
            </a:r>
          </a:p>
          <a:p>
            <a:r>
              <a:rPr lang="en-US" dirty="0"/>
              <a:t>Petraglia, F., &amp; Dolmans, M. M. (2022). Iron deficiency anemia: Impact on women’s reproductive health. Fertility and Sterility, 118(4), 605–606. https://doi.org/10.1016/j.fertnstert.2022.08.850</a:t>
            </a:r>
          </a:p>
          <a:p>
            <a:r>
              <a:rPr lang="en-US" dirty="0"/>
              <a:t>Mumford, S. L., et al. (2021). Markers of vitamin D metabolism and premenstrual symptoms in healthy women with regular cycles. Human Reproduction, 36(7), 1808–1820. https://doi.org/10.1093/humrep/deab089</a:t>
            </a:r>
          </a:p>
          <a:p>
            <a:r>
              <a:rPr lang="en-US" dirty="0"/>
              <a:t>American College of Obstetricians and Gynecologists. (2023). Early pregnancy loss. ACOG Practice Bulletin No. 200. https://www.acog.org Cappellini, M. D., Santini, V., </a:t>
            </a:r>
            <a:r>
              <a:rPr lang="en-US" dirty="0" err="1"/>
              <a:t>Braxs</a:t>
            </a:r>
            <a:r>
              <a:rPr lang="en-US" dirty="0"/>
              <a:t>, C., &amp; Shander, A. (2022). Iron metabolism and iron deficiency anemia in women. Fertility and Sterility, 118(4), 607–614. https://doi.org/10.1016/j.fertnstert.2022.08.014</a:t>
            </a:r>
          </a:p>
          <a:p>
            <a:r>
              <a:rPr lang="en-US" dirty="0"/>
              <a:t>World Health Organization. (2020). WHO recommendations on antenatal care for a positive pregnancy experience. Geneva: WHO.</a:t>
            </a:r>
          </a:p>
          <a:p>
            <a:r>
              <a:rPr lang="en-US" dirty="0"/>
              <a:t>American College of Obstetricians and Gynecologists. (2020). Physical activity and exercise during pregnancy and the postpartum period. ACOG Committee Opinion No. 804.</a:t>
            </a:r>
          </a:p>
          <a:p>
            <a:r>
              <a:rPr lang="en-US" dirty="0"/>
              <a:t>Centers for Disease Control and Prevention. (2023). Smoking and pregnancy. https://www.cdc.gov/tobacco/basic_information/health_effects/pregnancy/index.htm</a:t>
            </a:r>
          </a:p>
          <a:p>
            <a:r>
              <a:rPr lang="en-US" dirty="0" err="1"/>
              <a:t>Schisterman</a:t>
            </a:r>
            <a:r>
              <a:rPr lang="en-US" dirty="0"/>
              <a:t>, E. F., et al. (2014). Preconception low-dose aspirin and pregnancy outcomes: Results from the </a:t>
            </a:r>
            <a:r>
              <a:rPr lang="en-US" dirty="0" err="1"/>
              <a:t>EAGeR</a:t>
            </a:r>
            <a:r>
              <a:rPr lang="en-US" dirty="0"/>
              <a:t> randomized trial. The Lancet, 384(9937), 29–36. https://doi.org/10.1016/S0140-6736(14)60157-4</a:t>
            </a:r>
          </a:p>
          <a:p>
            <a:pPr marL="0" indent="0">
              <a:buNone/>
            </a:pP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3271</Words>
  <Application>Microsoft Office PowerPoint</Application>
  <PresentationFormat>On-screen Show (4:3)</PresentationFormat>
  <Paragraphs>274</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Relationship Between Preconception Iron Biomarkers and Pregnancy Loss</vt:lpstr>
      <vt:lpstr>Overview</vt:lpstr>
      <vt:lpstr>Introduction</vt:lpstr>
      <vt:lpstr>Methods</vt:lpstr>
      <vt:lpstr>Results – Baseline Characteristics</vt:lpstr>
      <vt:lpstr>Results – Baseline Characteristics</vt:lpstr>
      <vt:lpstr>Results – Risk Ratios</vt:lpstr>
      <vt:lpstr>Stratified Analyses</vt:lpstr>
      <vt:lpstr>Stratified Analyses (cont.)</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Sarah Rothbard</dc:creator>
  <cp:keywords/>
  <dc:description>generated using python-pptx</dc:description>
  <cp:lastModifiedBy>Rothbard, Sarah M</cp:lastModifiedBy>
  <cp:revision>5</cp:revision>
  <dcterms:created xsi:type="dcterms:W3CDTF">2013-01-27T09:14:16Z</dcterms:created>
  <dcterms:modified xsi:type="dcterms:W3CDTF">2025-12-04T04:55:02Z</dcterms:modified>
  <cp:category/>
</cp:coreProperties>
</file>